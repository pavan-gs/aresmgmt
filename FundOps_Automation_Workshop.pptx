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 id="274" r:id="rId19"/>
    <p:sldId id="275" r:id="rId20"/>
    <p:sldId id="277" r:id="rId21"/>
    <p:sldId id="278" r:id="rId22"/>
    <p:sldId id="279" r:id="rId23"/>
    <p:sldId id="280" r:id="rId24"/>
    <p:sldId id="282" r:id="rId25"/>
    <p:sldId id="283" r:id="rId26"/>
    <p:sldId id="284" r:id="rId27"/>
    <p:sldId id="285" r:id="rId28"/>
    <p:sldId id="286" r:id="rId29"/>
    <p:sldId id="287" r:id="rId30"/>
    <p:sldId id="288" r:id="rId31"/>
    <p:sldId id="289" r:id="rId32"/>
    <p:sldId id="290" r:id="rId33"/>
    <p:sldId id="292" r:id="rId34"/>
    <p:sldId id="293" r:id="rId35"/>
    <p:sldId id="294"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 id="310" r:id="rId52"/>
    <p:sldId id="311" r:id="rId53"/>
    <p:sldId id="312" r:id="rId54"/>
    <p:sldId id="313" r:id="rId55"/>
    <p:sldId id="314" r:id="rId56"/>
    <p:sldId id="315" r:id="rId5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8" d="100"/>
          <a:sy n="118" d="100"/>
        </p:scale>
        <p:origin x="-418" y="-6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2913063" y="0"/>
            <a:ext cx="2228850" cy="457200"/>
          </a:xfrm>
          <a:prstGeom prst="rect">
            <a:avLst/>
          </a:prstGeom>
        </p:spPr>
        <p:txBody>
          <a:bodyPr vert="horz" lIns="91440" tIns="45720" rIns="91440" bIns="45720" rtlCol="0"/>
          <a:lstStyle>
            <a:lvl1pPr algn="r">
              <a:defRPr sz="1200"/>
            </a:lvl1pPr>
          </a:lstStyle>
          <a:p>
            <a:fld id="{1C1D5924-891D-4B94-B39F-9A56468AC878}" type="datetimeFigureOut">
              <a:rPr lang="en-IN" smtClean="0"/>
              <a:t>23-06-2026</a:t>
            </a:fld>
            <a:endParaRPr lang="en-IN"/>
          </a:p>
        </p:txBody>
      </p:sp>
      <p:sp>
        <p:nvSpPr>
          <p:cNvPr id="4" name="Slide Image Placeholder 3"/>
          <p:cNvSpPr>
            <a:spLocks noGrp="1" noRot="1" noChangeAspect="1"/>
          </p:cNvSpPr>
          <p:nvPr>
            <p:ph type="sldImg" idx="2"/>
          </p:nvPr>
        </p:nvSpPr>
        <p:spPr>
          <a:xfrm>
            <a:off x="-47625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514350" y="4343400"/>
            <a:ext cx="41148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22885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2913063" y="8685213"/>
            <a:ext cx="2228850" cy="457200"/>
          </a:xfrm>
          <a:prstGeom prst="rect">
            <a:avLst/>
          </a:prstGeom>
        </p:spPr>
        <p:txBody>
          <a:bodyPr vert="horz" lIns="91440" tIns="45720" rIns="91440" bIns="45720" rtlCol="0" anchor="b"/>
          <a:lstStyle>
            <a:lvl1pPr algn="r">
              <a:defRPr sz="1200"/>
            </a:lvl1pPr>
          </a:lstStyle>
          <a:p>
            <a:fld id="{55C864F1-5EE1-469D-97C4-D136D08D55A9}" type="slidenum">
              <a:rPr lang="en-IN" smtClean="0"/>
              <a:t>‹#›</a:t>
            </a:fld>
            <a:endParaRPr lang="en-IN"/>
          </a:p>
        </p:txBody>
      </p:sp>
    </p:spTree>
    <p:extLst>
      <p:ext uri="{BB962C8B-B14F-4D97-AF65-F5344CB8AC3E}">
        <p14:creationId xmlns:p14="http://schemas.microsoft.com/office/powerpoint/2010/main" val="1329788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participants. This is a consulting-style engagement — you'll leave with real working automations for your actual daily work. By end of Day 2, each participant will have automated at least 3 manual processes they do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both days briefly. Emphasise this is not a coding course — it is a business automation course that uses coding. The distinction matters to non-technical participants.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here by asking the room: 'How many of you have tried writing a macro or formula in Excel to save time?' Nearly everyone will raise their hand. Then say: Copilot is that, but 100x more powerful — and it works across Excel, Outlook, SharePoint, SQL and PDFs.
Common Q: 'Is my code being sent to the cloud?' — Yes, context is sent to GitHub's servers. Check with your IT policy on data sensitivity. For most fund ops tasks (Excel formatting, report generation), this is acceptable.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Open VS Code live. Show all 3 modes. Start with inline autocomplete — type '# Read NAV from Excel file'. Then switch to Copilot Chat and ask it to write the full script. This 5-minute demo is often the 'wow moment' for participants.
Expected reaction: 'Wait, that's it?'  — Yes, that's the point.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part aloud. Then ask: 'What is the difference between these two prompts?' — (1) 'Read Excel files' vs (2) the full formula example. Let them see how vague vs specific prompts produce very different results.
Key teaching: Copilot is like a new analyst — the more context you give, the better the work you get back. Garbage in, garbage out still applies.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template handles ~80% of the Excel collection tasks in fund ops. Participants fill in the CAPS placeholders. Trainer: show them how to right-click a folder in Windows Explorer to copy the path.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PDF extraction is one of the highest-value tasks for fund ops. Walk them through identifying the PDF structure first (ask Copilot to describe the layout) before jumping to extraction.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template produces the exception reports that fund accountants spend hours creating manually. The tolerance parameter is critical — for NAV it might be $0.01; for shares it might be 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most-used template after the first day. Participants immediately start using this when their code fails. Normalise copying the full error message — many beginners only copy the last 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a show-of-hands: who has opened VS Code before? Who has seen Copilot suggestions? This calibrates where to spend extra time.
If Copilot is not authenticated: File &gt; Preferences &gt; Extensions &gt; GitHub Copilot &gt; Sign In. Use their work GitHub account.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everyone create this folder structure NOW using VS Code's integrated terminal (Ctrl+`). This structure will be referenced in every lab. The config/settings.json approach is key — no hardcoded file paths.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Walk the room while they do this. The most common issues:
1. Path errors (backslashes on Windows) — Copilot sometimes uses forward slashes. Show how to fix.
2. No Excel files in the folder — create sample files first.
3. Wrong sheet name — remind them to check the actual sheet name.
Goal: every person gets output by end of this lab. Don't move on until majority have success.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data: 15 Excel files are pre-loaded in data/input/. 2 of them have intentional errors (wrong sheet name, missing cell) to test error handling.
Common mistake: participants try to run the script without creating the logs/ and reports/ folders first. Teach them to ask Copilot: 'Add code to create these directories if they don't exist.'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'aha moment' slide. Many participants have experienced the pain of a broken macro when a spreadsheet changes. Show empathy first, then introduce the solution.
Ask the room: 'How many of you have had a report break because someone changed a column or moved a cell?' Nearly everyone will raise a hand.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data includes 5 different fund administrator formats.
Common questions:
- 'What if NAV appears multiple times?' → Ask Copilot to handle multiple matches with a priority list
- 'What about currency?' → Extend the keyword list
- 'What about tables?' → Use ws.tables property with Copilot guidance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technically complex setup in the workshop. Spend 10 minutes here.
Key message: App Registration is a one-time IT setup task. Once done, every automation script can reuse it.
Common IT question: 'Why does it need Mail.Read permission?' — Because Graph API is a secure gateway. Without explicit permission, no app can read mailboxes. This is a security feature, not a bug.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slide for participants OR share as PDF. They will refer to it during the hands-on setup.
TROUBLESHOOTING:
- 'I don't have permission to create app registrations' → Need Azure AD admin. Pre-arrange with IT.
- 'Where is Admin Consent button?' → Must be done by Global Admin or Privileged Role Admin.
- 'Client secret value disappeared' → Deleted and create a new one. It's only shown once.
Time estimate: 15 minutes if permissions are already set up, 30+ minutes if IT is involved.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Pre-requisite: App Registration must be complete (or trainer uses pre-configured credentials).
If IT setup isn't ready, participants can use a demo tenant provided by the trainer.
Common issue: 'insufficient_scope' error → Check API permissions were granted with admin consent.
Key insight: once this agent runs on a schedule (Task Scheduler or Azure Function), no one ever manually downloads email attachments again.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code checklist (write on whiteboard):
✅ No hardcoded paths
✅ Logging on every step
✅ Graceful error handling
✅ Config-driven settings
✅ Can run unattended
✅ Audit trail
This is the difference between a script that works and a script you can trust.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Regulatory context: in fund operations, audit trails are not optional. Every automated process must be traceable. Ask participants: 'If an auditor asked what happened on the 15th of last month, could you answer from your logs?'
This lab connects directly to SOC 2, ISAE 3402, and internal audit requirements.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context: fund data files sometimes arrive multiple times (resends, corrections). Without duplicate detection:
- NAV gets counted twice in master report
- Reconciliation shows false exceptions
- Audit trail is polluted
Common question: 'Why MD5 hash and not just filename?' → Because a corrected file has the same name but different content.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of Day 1 debrief. Ask: 'What was your biggest surprise today?' and 'What process came to mind that you want to automate first?'
Preview Day 2: tomorrow we go deeper into PDF extraction, SQL, Power BI and build the full end-to-end platform.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participants open a sample fund NAV PDF on their screens. Ask: 'Where is the NAV? How would you describe its location to someone who can't see the PDF?' This exercise builds the skill of describing structure in words — which is exactly what you need for Copilot prompting.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PDFs: 4 fund statement formats are included (Citco, SS&amp;C, State Street, custom admin).
Common issues:
- Text extracted as one long string → use page.extract_words() for better structure
- Numbers extracted with currency symbols → clean with regex replace
- Tables with merged cells → pdfplumber.extract_table() handles this with table_settings parameter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produces the deliverable that fund accountants currently spend 2-3 hours building manually each month.
Key teaching: the tolerance parameter ($1,000) should be configurable in settings.json, not hardcoded.
Discussion: 'What is an acceptable tolerance for your fund type?' NAV vs shares outstanding have very different tolerances.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security point: use Trusted_Connection=yes (Windows authentication) whenever possible — no username/password in code. Only use SQL auth if Windows auth is not available, and then always read credentials from environment variables or config file, never hardcoded.
Ask Copilot: 'How do I read SQL Server credentials from environment variables in Python?' — show the output.</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Server may not be accessible from all participant machines. Have a fallback: provide a SQLite database file with the same schema so participants without SQL Server access can complete the lab.
Common issues:
- ODBC driver not installed → guide to download 'ODBC Driver 17 for SQL Server'
- Windows auth fails → check SQL Server allows Windows authentication in Server Properties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misconception: 'Power BI can do all this already.' True — but it can't check against your SQL Server, compare with PDFs, run exception rules, and log an audit trail. Python + Power BI is a team, not a competition.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model tip: Power BI's semantic model (formerly 'dataset') expects clean, normalised data. Show participants the difference between 'report-format Excel' (merged cells, totals, formatting) vs 'data-format Excel' (flat, clean, no formatting).
This distinction alone saves hours of Power BI data prep work.</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This is the most reusable component in the workshop. Once built, participants can extend the EXCEPTION_RULES list with their own business rules without touching the engine.
Ask: 'What exception rules do you manually check every day?' Let them list them — then show how each becomes one ExceptionRule entry.</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is where participants start seeing the business value compound. Each rule they add eliminates one manual check.
Discussion question: 'How many of your daily checks could be expressed as a rule in this framework?' Most participants find 5-15 rules immediately.</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to industry context: fund administrators and prime brokers often have data quality SLAs. This validation engine helps your team catch issues before they become formal breaches.
Key principle: never pass unvalidated data downstream.</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this SharePoint structure before the lab. Use the SharePoint admin or an M365 admin account.
Key principle: the Input folder is the 'landing zone' — no processing happens there. Files move to Processing (locking), then Processed (archive). This prevents double-processing and gives you a clean audit trail of every file's journey.</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Graph API issue with SharePoint: site IDs and drive IDs. Use:
GET /v1.0/sites/{hostname}:/sites/{site-name} to get site ID
GET /v1.0/sites/{site-id}/drives to get drive ID
Ask Copilot to write a helper function that resolves site and drive IDs from a friendly URL.</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culmination slide. Every component participants built over 2 days appears here. The orchestrator (Lab 15) just calls each module in sequence.
Ask: 'How long does this process take manually?' (typically 2-4 hours). 'How long will it take automated?' (5-15 minutes, unattended).</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GRAND FINALE — give participants time to run and celebrate.
Ask them to time the full pipeline run vs their manual process.
Have them share with the group: 'What is the one process this will eliminate for you?'
Send them home with: the full codebase, the prompt template cards, and a 30-day challenge: automate one more process per week.</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slide as a reference card for participants. Add your own errors as they arise during the workshop.</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 group share: each person states ONE process they will automate in the next 2 weeks. Write them on the whiteboard. Follow up in 30 days.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0D7C66"/>
          </a:solidFill>
          <a:ln w="12700">
            <a:solidFill>
              <a:srgbClr val="0D7C66"/>
            </a:solidFill>
            <a:prstDash val="solid"/>
          </a:ln>
        </p:spPr>
      </p:sp>
      <p:sp>
        <p:nvSpPr>
          <p:cNvPr id="3" name="Text 1"/>
          <p:cNvSpPr/>
          <p:nvPr/>
        </p:nvSpPr>
        <p:spPr>
          <a:xfrm>
            <a:off x="457200" y="502920"/>
            <a:ext cx="8229600" cy="100584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AI-Assisted Automation</a:t>
            </a:r>
            <a:endParaRPr lang="en-US" sz="3800" dirty="0"/>
          </a:p>
        </p:txBody>
      </p:sp>
      <p:sp>
        <p:nvSpPr>
          <p:cNvPr id="4" name="Text 2"/>
          <p:cNvSpPr/>
          <p:nvPr/>
        </p:nvSpPr>
        <p:spPr>
          <a:xfrm>
            <a:off x="457200" y="1508760"/>
            <a:ext cx="8229600" cy="594360"/>
          </a:xfrm>
          <a:prstGeom prst="rect">
            <a:avLst/>
          </a:prstGeom>
          <a:noFill/>
          <a:ln/>
        </p:spPr>
        <p:txBody>
          <a:bodyPr wrap="square" rtlCol="0" anchor="ctr"/>
          <a:lstStyle/>
          <a:p>
            <a:pPr marL="0" indent="0" algn="ctr">
              <a:buNone/>
            </a:pPr>
            <a:r>
              <a:rPr lang="en-US" sz="2200" dirty="0">
                <a:solidFill>
                  <a:srgbClr val="A0C4FF"/>
                </a:solidFill>
                <a:latin typeface="Calibri" pitchFamily="34" charset="0"/>
                <a:ea typeface="Calibri" pitchFamily="34" charset="-122"/>
                <a:cs typeface="Calibri" pitchFamily="34" charset="-120"/>
              </a:rPr>
              <a:t>Workshop for Fund Accounting &amp; Operations</a:t>
            </a:r>
            <a:endParaRPr lang="en-US" sz="2200" dirty="0"/>
          </a:p>
        </p:txBody>
      </p:sp>
      <p:sp>
        <p:nvSpPr>
          <p:cNvPr id="5" name="Text 3"/>
          <p:cNvSpPr/>
          <p:nvPr/>
        </p:nvSpPr>
        <p:spPr>
          <a:xfrm>
            <a:off x="457200" y="2286000"/>
            <a:ext cx="8229600" cy="457200"/>
          </a:xfrm>
          <a:prstGeom prst="rect">
            <a:avLst/>
          </a:prstGeom>
          <a:noFill/>
          <a:ln/>
        </p:spPr>
        <p:txBody>
          <a:bodyPr wrap="square" rtlCol="0" anchor="ctr"/>
          <a:lstStyle/>
          <a:p>
            <a:pPr marL="0" indent="0" algn="ctr">
              <a:buNone/>
            </a:pPr>
            <a:r>
              <a:rPr lang="en-US" sz="1500" dirty="0">
                <a:solidFill>
                  <a:srgbClr val="6EA8D8"/>
                </a:solidFill>
                <a:latin typeface="Calibri" pitchFamily="34" charset="0"/>
                <a:ea typeface="Calibri" pitchFamily="34" charset="-122"/>
                <a:cs typeface="Calibri" pitchFamily="34" charset="-120"/>
              </a:rPr>
              <a:t>2-Day Intensive  •  GitHub Copilot  •  Python  •  Microsoft 365</a:t>
            </a:r>
            <a:endParaRPr lang="en-US" sz="1500" dirty="0"/>
          </a:p>
        </p:txBody>
      </p:sp>
      <p:sp>
        <p:nvSpPr>
          <p:cNvPr id="6" name="Shape 4"/>
          <p:cNvSpPr/>
          <p:nvPr/>
        </p:nvSpPr>
        <p:spPr>
          <a:xfrm>
            <a:off x="411480" y="2926080"/>
            <a:ext cx="1325880" cy="402336"/>
          </a:xfrm>
          <a:prstGeom prst="roundRect">
            <a:avLst>
              <a:gd name="adj" fmla="val 50000"/>
            </a:avLst>
          </a:prstGeom>
          <a:solidFill>
            <a:srgbClr val="0D7C66">
              <a:alpha val="60000"/>
            </a:srgbClr>
          </a:solidFill>
          <a:ln w="12700">
            <a:solidFill>
              <a:srgbClr val="0D7C66"/>
            </a:solidFill>
            <a:prstDash val="solid"/>
          </a:ln>
        </p:spPr>
      </p:sp>
      <p:sp>
        <p:nvSpPr>
          <p:cNvPr id="7" name="Text 5"/>
          <p:cNvSpPr/>
          <p:nvPr/>
        </p:nvSpPr>
        <p:spPr>
          <a:xfrm>
            <a:off x="411480" y="2944368"/>
            <a:ext cx="1325880" cy="347472"/>
          </a:xfrm>
          <a:prstGeom prst="rect">
            <a:avLst/>
          </a:prstGeom>
          <a:noFill/>
          <a:ln/>
        </p:spPr>
        <p:txBody>
          <a:bodyPr wrap="square" rtlCol="0" anchor="ctr"/>
          <a:lstStyle/>
          <a:p>
            <a:pPr marL="0" indent="0" algn="ctr">
              <a:buNone/>
            </a:pPr>
            <a:r>
              <a:rPr lang="en-US" sz="1000" dirty="0">
                <a:solidFill>
                  <a:srgbClr val="D0F0E8"/>
                </a:solidFill>
                <a:latin typeface="Calibri" pitchFamily="34" charset="0"/>
                <a:ea typeface="Calibri" pitchFamily="34" charset="-122"/>
                <a:cs typeface="Calibri" pitchFamily="34" charset="-120"/>
              </a:rPr>
              <a:t>Excel Automation</a:t>
            </a:r>
            <a:endParaRPr lang="en-US" sz="1000" dirty="0"/>
          </a:p>
        </p:txBody>
      </p:sp>
      <p:sp>
        <p:nvSpPr>
          <p:cNvPr id="8" name="Shape 6"/>
          <p:cNvSpPr/>
          <p:nvPr/>
        </p:nvSpPr>
        <p:spPr>
          <a:xfrm>
            <a:off x="1801368" y="2926080"/>
            <a:ext cx="1325880" cy="402336"/>
          </a:xfrm>
          <a:prstGeom prst="roundRect">
            <a:avLst>
              <a:gd name="adj" fmla="val 50000"/>
            </a:avLst>
          </a:prstGeom>
          <a:solidFill>
            <a:srgbClr val="0D7C66">
              <a:alpha val="60000"/>
            </a:srgbClr>
          </a:solidFill>
          <a:ln w="12700">
            <a:solidFill>
              <a:srgbClr val="0D7C66"/>
            </a:solidFill>
            <a:prstDash val="solid"/>
          </a:ln>
        </p:spPr>
      </p:sp>
      <p:sp>
        <p:nvSpPr>
          <p:cNvPr id="9" name="Text 7"/>
          <p:cNvSpPr/>
          <p:nvPr/>
        </p:nvSpPr>
        <p:spPr>
          <a:xfrm>
            <a:off x="1801368" y="2944368"/>
            <a:ext cx="1325880" cy="347472"/>
          </a:xfrm>
          <a:prstGeom prst="rect">
            <a:avLst/>
          </a:prstGeom>
          <a:noFill/>
          <a:ln/>
        </p:spPr>
        <p:txBody>
          <a:bodyPr wrap="square" rtlCol="0" anchor="ctr"/>
          <a:lstStyle/>
          <a:p>
            <a:pPr marL="0" indent="0" algn="ctr">
              <a:buNone/>
            </a:pPr>
            <a:r>
              <a:rPr lang="en-US" sz="1000" dirty="0">
                <a:solidFill>
                  <a:srgbClr val="D0F0E8"/>
                </a:solidFill>
                <a:latin typeface="Calibri" pitchFamily="34" charset="0"/>
                <a:ea typeface="Calibri" pitchFamily="34" charset="-122"/>
                <a:cs typeface="Calibri" pitchFamily="34" charset="-120"/>
              </a:rPr>
              <a:t>PDF Extraction</a:t>
            </a:r>
            <a:endParaRPr lang="en-US" sz="1000" dirty="0"/>
          </a:p>
        </p:txBody>
      </p:sp>
      <p:sp>
        <p:nvSpPr>
          <p:cNvPr id="10" name="Shape 8"/>
          <p:cNvSpPr/>
          <p:nvPr/>
        </p:nvSpPr>
        <p:spPr>
          <a:xfrm>
            <a:off x="3191256" y="2926080"/>
            <a:ext cx="1325880" cy="402336"/>
          </a:xfrm>
          <a:prstGeom prst="roundRect">
            <a:avLst>
              <a:gd name="adj" fmla="val 50000"/>
            </a:avLst>
          </a:prstGeom>
          <a:solidFill>
            <a:srgbClr val="0D7C66">
              <a:alpha val="60000"/>
            </a:srgbClr>
          </a:solidFill>
          <a:ln w="12700">
            <a:solidFill>
              <a:srgbClr val="0D7C66"/>
            </a:solidFill>
            <a:prstDash val="solid"/>
          </a:ln>
        </p:spPr>
      </p:sp>
      <p:sp>
        <p:nvSpPr>
          <p:cNvPr id="11" name="Text 9"/>
          <p:cNvSpPr/>
          <p:nvPr/>
        </p:nvSpPr>
        <p:spPr>
          <a:xfrm>
            <a:off x="3191256" y="2944368"/>
            <a:ext cx="1325880" cy="347472"/>
          </a:xfrm>
          <a:prstGeom prst="rect">
            <a:avLst/>
          </a:prstGeom>
          <a:noFill/>
          <a:ln/>
        </p:spPr>
        <p:txBody>
          <a:bodyPr wrap="square" rtlCol="0" anchor="ctr"/>
          <a:lstStyle/>
          <a:p>
            <a:pPr marL="0" indent="0" algn="ctr">
              <a:buNone/>
            </a:pPr>
            <a:r>
              <a:rPr lang="en-US" sz="1000" dirty="0">
                <a:solidFill>
                  <a:srgbClr val="D0F0E8"/>
                </a:solidFill>
                <a:latin typeface="Calibri" pitchFamily="34" charset="0"/>
                <a:ea typeface="Calibri" pitchFamily="34" charset="-122"/>
                <a:cs typeface="Calibri" pitchFamily="34" charset="-120"/>
              </a:rPr>
              <a:t>SQL Server</a:t>
            </a:r>
            <a:endParaRPr lang="en-US" sz="1000" dirty="0"/>
          </a:p>
        </p:txBody>
      </p:sp>
      <p:sp>
        <p:nvSpPr>
          <p:cNvPr id="12" name="Shape 10"/>
          <p:cNvSpPr/>
          <p:nvPr/>
        </p:nvSpPr>
        <p:spPr>
          <a:xfrm>
            <a:off x="4581144" y="2926080"/>
            <a:ext cx="1325880" cy="402336"/>
          </a:xfrm>
          <a:prstGeom prst="roundRect">
            <a:avLst>
              <a:gd name="adj" fmla="val 50000"/>
            </a:avLst>
          </a:prstGeom>
          <a:solidFill>
            <a:srgbClr val="0D7C66">
              <a:alpha val="60000"/>
            </a:srgbClr>
          </a:solidFill>
          <a:ln w="12700">
            <a:solidFill>
              <a:srgbClr val="0D7C66"/>
            </a:solidFill>
            <a:prstDash val="solid"/>
          </a:ln>
        </p:spPr>
      </p:sp>
      <p:sp>
        <p:nvSpPr>
          <p:cNvPr id="13" name="Text 11"/>
          <p:cNvSpPr/>
          <p:nvPr/>
        </p:nvSpPr>
        <p:spPr>
          <a:xfrm>
            <a:off x="4581144" y="2944368"/>
            <a:ext cx="1325880" cy="347472"/>
          </a:xfrm>
          <a:prstGeom prst="rect">
            <a:avLst/>
          </a:prstGeom>
          <a:noFill/>
          <a:ln/>
        </p:spPr>
        <p:txBody>
          <a:bodyPr wrap="square" rtlCol="0" anchor="ctr"/>
          <a:lstStyle/>
          <a:p>
            <a:pPr marL="0" indent="0" algn="ctr">
              <a:buNone/>
            </a:pPr>
            <a:r>
              <a:rPr lang="en-US" sz="1000" dirty="0">
                <a:solidFill>
                  <a:srgbClr val="D0F0E8"/>
                </a:solidFill>
                <a:latin typeface="Calibri" pitchFamily="34" charset="0"/>
                <a:ea typeface="Calibri" pitchFamily="34" charset="-122"/>
                <a:cs typeface="Calibri" pitchFamily="34" charset="-120"/>
              </a:rPr>
              <a:t>SharePoint</a:t>
            </a:r>
            <a:endParaRPr lang="en-US" sz="1000" dirty="0"/>
          </a:p>
        </p:txBody>
      </p:sp>
      <p:sp>
        <p:nvSpPr>
          <p:cNvPr id="14" name="Shape 12"/>
          <p:cNvSpPr/>
          <p:nvPr/>
        </p:nvSpPr>
        <p:spPr>
          <a:xfrm>
            <a:off x="5971032" y="2926080"/>
            <a:ext cx="1325880" cy="402336"/>
          </a:xfrm>
          <a:prstGeom prst="roundRect">
            <a:avLst>
              <a:gd name="adj" fmla="val 50000"/>
            </a:avLst>
          </a:prstGeom>
          <a:solidFill>
            <a:srgbClr val="0D7C66">
              <a:alpha val="60000"/>
            </a:srgbClr>
          </a:solidFill>
          <a:ln w="12700">
            <a:solidFill>
              <a:srgbClr val="0D7C66"/>
            </a:solidFill>
            <a:prstDash val="solid"/>
          </a:ln>
        </p:spPr>
      </p:sp>
      <p:sp>
        <p:nvSpPr>
          <p:cNvPr id="15" name="Text 13"/>
          <p:cNvSpPr/>
          <p:nvPr/>
        </p:nvSpPr>
        <p:spPr>
          <a:xfrm>
            <a:off x="5971032" y="2944368"/>
            <a:ext cx="1325880" cy="347472"/>
          </a:xfrm>
          <a:prstGeom prst="rect">
            <a:avLst/>
          </a:prstGeom>
          <a:noFill/>
          <a:ln/>
        </p:spPr>
        <p:txBody>
          <a:bodyPr wrap="square" rtlCol="0" anchor="ctr"/>
          <a:lstStyle/>
          <a:p>
            <a:pPr marL="0" indent="0" algn="ctr">
              <a:buNone/>
            </a:pPr>
            <a:r>
              <a:rPr lang="en-US" sz="1000" dirty="0">
                <a:solidFill>
                  <a:srgbClr val="D0F0E8"/>
                </a:solidFill>
                <a:latin typeface="Calibri" pitchFamily="34" charset="0"/>
                <a:ea typeface="Calibri" pitchFamily="34" charset="-122"/>
                <a:cs typeface="Calibri" pitchFamily="34" charset="-120"/>
              </a:rPr>
              <a:t>Power BI</a:t>
            </a:r>
            <a:endParaRPr lang="en-US" sz="1000" dirty="0"/>
          </a:p>
        </p:txBody>
      </p:sp>
      <p:sp>
        <p:nvSpPr>
          <p:cNvPr id="16" name="Shape 14"/>
          <p:cNvSpPr/>
          <p:nvPr/>
        </p:nvSpPr>
        <p:spPr>
          <a:xfrm>
            <a:off x="7360920" y="2926080"/>
            <a:ext cx="1325880" cy="402336"/>
          </a:xfrm>
          <a:prstGeom prst="roundRect">
            <a:avLst>
              <a:gd name="adj" fmla="val 50000"/>
            </a:avLst>
          </a:prstGeom>
          <a:solidFill>
            <a:srgbClr val="0D7C66">
              <a:alpha val="60000"/>
            </a:srgbClr>
          </a:solidFill>
          <a:ln w="12700">
            <a:solidFill>
              <a:srgbClr val="0D7C66"/>
            </a:solidFill>
            <a:prstDash val="solid"/>
          </a:ln>
        </p:spPr>
      </p:sp>
      <p:sp>
        <p:nvSpPr>
          <p:cNvPr id="17" name="Text 15"/>
          <p:cNvSpPr/>
          <p:nvPr/>
        </p:nvSpPr>
        <p:spPr>
          <a:xfrm>
            <a:off x="7360920" y="2944368"/>
            <a:ext cx="1325880" cy="347472"/>
          </a:xfrm>
          <a:prstGeom prst="rect">
            <a:avLst/>
          </a:prstGeom>
          <a:noFill/>
          <a:ln/>
        </p:spPr>
        <p:txBody>
          <a:bodyPr wrap="square" rtlCol="0" anchor="ctr"/>
          <a:lstStyle/>
          <a:p>
            <a:pPr marL="0" indent="0" algn="ctr">
              <a:buNone/>
            </a:pPr>
            <a:r>
              <a:rPr lang="en-US" sz="1000" dirty="0">
                <a:solidFill>
                  <a:srgbClr val="D0F0E8"/>
                </a:solidFill>
                <a:latin typeface="Calibri" pitchFamily="34" charset="0"/>
                <a:ea typeface="Calibri" pitchFamily="34" charset="-122"/>
                <a:cs typeface="Calibri" pitchFamily="34" charset="-120"/>
              </a:rPr>
              <a:t>Outlook/Graph API</a:t>
            </a:r>
            <a:endParaRPr lang="en-US" sz="1000" dirty="0"/>
          </a:p>
        </p:txBody>
      </p:sp>
      <p:sp>
        <p:nvSpPr>
          <p:cNvPr id="18" name="Text 16"/>
          <p:cNvSpPr/>
          <p:nvPr/>
        </p:nvSpPr>
        <p:spPr>
          <a:xfrm>
            <a:off x="731520" y="4187952"/>
            <a:ext cx="7680960" cy="50292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"I can automate my daily work — even though I am not a programmer."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OVERVIEW</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Your 2-Day Transformation Plan</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From manual processes → automated pipelines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What You Will Build Over 2 Days</a:t>
            </a:r>
            <a:endParaRPr lang="en-US" sz="2000" dirty="0"/>
          </a:p>
        </p:txBody>
      </p:sp>
      <p:sp>
        <p:nvSpPr>
          <p:cNvPr id="4" name="Shape 2"/>
          <p:cNvSpPr/>
          <p:nvPr/>
        </p:nvSpPr>
        <p:spPr>
          <a:xfrm>
            <a:off x="274320" y="777240"/>
            <a:ext cx="4160520" cy="4041648"/>
          </a:xfrm>
          <a:prstGeom prst="roundRect">
            <a:avLst>
              <a:gd name="adj" fmla="val 226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5" name="Shape 3"/>
          <p:cNvSpPr/>
          <p:nvPr/>
        </p:nvSpPr>
        <p:spPr>
          <a:xfrm>
            <a:off x="274320" y="777240"/>
            <a:ext cx="4160520" cy="457200"/>
          </a:xfrm>
          <a:prstGeom prst="rect">
            <a:avLst/>
          </a:prstGeom>
          <a:solidFill>
            <a:srgbClr val="1A2E4A"/>
          </a:solidFill>
          <a:ln w="12700">
            <a:solidFill>
              <a:srgbClr val="1A2E4A"/>
            </a:solidFill>
            <a:prstDash val="solid"/>
          </a:ln>
        </p:spPr>
      </p:sp>
      <p:sp>
        <p:nvSpPr>
          <p:cNvPr id="6" name="Text 4"/>
          <p:cNvSpPr/>
          <p:nvPr/>
        </p:nvSpPr>
        <p:spPr>
          <a:xfrm>
            <a:off x="411480" y="822960"/>
            <a:ext cx="39319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DAY 1 — AI-Assisted Development</a:t>
            </a:r>
            <a:endParaRPr lang="en-US" sz="1300" dirty="0"/>
          </a:p>
        </p:txBody>
      </p:sp>
      <p:sp>
        <p:nvSpPr>
          <p:cNvPr id="7" name="Text 5"/>
          <p:cNvSpPr/>
          <p:nvPr/>
        </p:nvSpPr>
        <p:spPr>
          <a:xfrm>
            <a:off x="438912" y="1316736"/>
            <a:ext cx="3886200" cy="3383280"/>
          </a:xfrm>
          <a:prstGeom prst="rect">
            <a:avLst/>
          </a:prstGeom>
          <a:noFill/>
          <a:ln/>
        </p:spPr>
        <p:txBody>
          <a:bodyPr wrap="square" rtlCol="0" anchor="ctr"/>
          <a:lstStyle/>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GitHub Copilot Mastery (1 hr)</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1: Generate Python from Natural Language</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2: Excel Collection Agent (15 funds)</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3: Dynamic Excel Discovery Agent</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4: Outlook Automation via Graph API</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5: Productionising Generated Code</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6: Logging &amp; Audit Framework</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7: Duplicate Detection Framework</a:t>
            </a:r>
            <a:endParaRPr lang="en-US" sz="1250" dirty="0"/>
          </a:p>
        </p:txBody>
      </p:sp>
      <p:sp>
        <p:nvSpPr>
          <p:cNvPr id="8" name="Shape 6"/>
          <p:cNvSpPr/>
          <p:nvPr/>
        </p:nvSpPr>
        <p:spPr>
          <a:xfrm>
            <a:off x="4709160" y="777240"/>
            <a:ext cx="4160520" cy="4041648"/>
          </a:xfrm>
          <a:prstGeom prst="roundRect">
            <a:avLst>
              <a:gd name="adj" fmla="val 2262"/>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9" name="Shape 7"/>
          <p:cNvSpPr/>
          <p:nvPr/>
        </p:nvSpPr>
        <p:spPr>
          <a:xfrm>
            <a:off x="4709160" y="777240"/>
            <a:ext cx="4160520" cy="457200"/>
          </a:xfrm>
          <a:prstGeom prst="rect">
            <a:avLst/>
          </a:prstGeom>
          <a:solidFill>
            <a:srgbClr val="0D7C66"/>
          </a:solidFill>
          <a:ln w="12700">
            <a:solidFill>
              <a:srgbClr val="0D7C66"/>
            </a:solidFill>
            <a:prstDash val="solid"/>
          </a:ln>
        </p:spPr>
      </p:sp>
      <p:sp>
        <p:nvSpPr>
          <p:cNvPr id="10" name="Text 8"/>
          <p:cNvSpPr/>
          <p:nvPr/>
        </p:nvSpPr>
        <p:spPr>
          <a:xfrm>
            <a:off x="4846320" y="822960"/>
            <a:ext cx="393192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DAY 2 — Enterprise Automation Solutions</a:t>
            </a:r>
            <a:endParaRPr lang="en-US" sz="1300" dirty="0"/>
          </a:p>
        </p:txBody>
      </p:sp>
      <p:sp>
        <p:nvSpPr>
          <p:cNvPr id="11" name="Text 9"/>
          <p:cNvSpPr/>
          <p:nvPr/>
        </p:nvSpPr>
        <p:spPr>
          <a:xfrm>
            <a:off x="4873752" y="1316736"/>
            <a:ext cx="3886200" cy="3383280"/>
          </a:xfrm>
          <a:prstGeom prst="rect">
            <a:avLst/>
          </a:prstGeom>
          <a:noFill/>
          <a:ln/>
        </p:spPr>
        <p:txBody>
          <a:bodyPr wrap="square" rtlCol="0" anchor="ctr"/>
          <a:lstStyle/>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8: PDF Extraction</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9: PDF vs Excel Reconciliation</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10: SQL Server Integration</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11: Power BI Integration</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12: Exception Reporting Framework</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13: Enterprise Validation Rules Engine</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14: SharePoint Integration</a:t>
            </a:r>
            <a:endParaRPr lang="en-US" sz="1250" dirty="0"/>
          </a:p>
          <a:p>
            <a:pPr marL="342900" indent="-342900">
              <a:spcAft>
                <a:spcPts val="400"/>
              </a:spcAft>
              <a:buSzPct val="100000"/>
              <a:buChar char="•"/>
            </a:pPr>
            <a:r>
              <a:rPr lang="en-US" sz="1250" dirty="0">
                <a:solidFill>
                  <a:srgbClr val="1A202C"/>
                </a:solidFill>
                <a:latin typeface="Calibri" pitchFamily="34" charset="0"/>
                <a:ea typeface="Calibri" pitchFamily="34" charset="-122"/>
                <a:cs typeface="Calibri" pitchFamily="34" charset="-120"/>
              </a:rPr>
              <a:t>Lab 15: End-to-End Automation Platform</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1 — HOUR 1  •  MODULE 0</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GitHub Copilot in VS Code</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What it is, how it works, and how to get the most from it</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What is GitHub Copilot? (And Why It Changes Everything)</a:t>
            </a:r>
            <a:endParaRPr lang="en-US" sz="2000" dirty="0"/>
          </a:p>
        </p:txBody>
      </p:sp>
      <p:sp>
        <p:nvSpPr>
          <p:cNvPr id="4" name="Shape 2"/>
          <p:cNvSpPr/>
          <p:nvPr/>
        </p:nvSpPr>
        <p:spPr>
          <a:xfrm>
            <a:off x="274320" y="804672"/>
            <a:ext cx="2926080" cy="2103120"/>
          </a:xfrm>
          <a:prstGeom prst="roundRect">
            <a:avLst>
              <a:gd name="adj" fmla="val 347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5" name="Shape 3"/>
          <p:cNvSpPr/>
          <p:nvPr/>
        </p:nvSpPr>
        <p:spPr>
          <a:xfrm>
            <a:off x="274320" y="804672"/>
            <a:ext cx="2926080" cy="420624"/>
          </a:xfrm>
          <a:prstGeom prst="rect">
            <a:avLst/>
          </a:prstGeom>
          <a:solidFill>
            <a:srgbClr val="1A2E4A"/>
          </a:solidFill>
          <a:ln w="12700">
            <a:solidFill>
              <a:srgbClr val="1A2E4A"/>
            </a:solidFill>
            <a:prstDash val="solid"/>
          </a:ln>
        </p:spPr>
      </p:sp>
      <p:sp>
        <p:nvSpPr>
          <p:cNvPr id="6" name="Text 4"/>
          <p:cNvSpPr/>
          <p:nvPr/>
        </p:nvSpPr>
        <p:spPr>
          <a:xfrm>
            <a:off x="384048" y="850392"/>
            <a:ext cx="2706624"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AI Pair Programmer</a:t>
            </a:r>
            <a:endParaRPr lang="en-US" sz="1300" dirty="0"/>
          </a:p>
        </p:txBody>
      </p:sp>
      <p:sp>
        <p:nvSpPr>
          <p:cNvPr id="7" name="Text 5"/>
          <p:cNvSpPr/>
          <p:nvPr/>
        </p:nvSpPr>
        <p:spPr>
          <a:xfrm>
            <a:off x="384048" y="1316736"/>
            <a:ext cx="2706624" cy="1481328"/>
          </a:xfrm>
          <a:prstGeom prst="rect">
            <a:avLst/>
          </a:prstGeom>
          <a:noFill/>
          <a:ln/>
        </p:spPr>
        <p:txBody>
          <a:bodyPr wrap="square" rtlCol="0" anchor="ctr"/>
          <a:lstStyle/>
          <a:p>
            <a:pPr marL="0" indent="0">
              <a:buNone/>
            </a:pPr>
            <a:r>
              <a:rPr lang="en-US" sz="1200" dirty="0">
                <a:solidFill>
                  <a:srgbClr val="1A202C"/>
                </a:solidFill>
                <a:latin typeface="Calibri" pitchFamily="34" charset="0"/>
                <a:ea typeface="Calibri" pitchFamily="34" charset="-122"/>
                <a:cs typeface="Calibri" pitchFamily="34" charset="-120"/>
              </a:rPr>
              <a:t>Copilot reads your intent — not just keywords. Describe WHAT you want in plain English and it writes the code for you.</a:t>
            </a:r>
            <a:endParaRPr lang="en-US" sz="1200" dirty="0"/>
          </a:p>
        </p:txBody>
      </p:sp>
      <p:sp>
        <p:nvSpPr>
          <p:cNvPr id="8" name="Shape 6"/>
          <p:cNvSpPr/>
          <p:nvPr/>
        </p:nvSpPr>
        <p:spPr>
          <a:xfrm>
            <a:off x="3319272" y="804672"/>
            <a:ext cx="2926080" cy="2103120"/>
          </a:xfrm>
          <a:prstGeom prst="roundRect">
            <a:avLst>
              <a:gd name="adj" fmla="val 347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9" name="Shape 7"/>
          <p:cNvSpPr/>
          <p:nvPr/>
        </p:nvSpPr>
        <p:spPr>
          <a:xfrm>
            <a:off x="3319272" y="804672"/>
            <a:ext cx="2926080" cy="420624"/>
          </a:xfrm>
          <a:prstGeom prst="rect">
            <a:avLst/>
          </a:prstGeom>
          <a:solidFill>
            <a:srgbClr val="0D7C66"/>
          </a:solidFill>
          <a:ln w="12700">
            <a:solidFill>
              <a:srgbClr val="0D7C66"/>
            </a:solidFill>
            <a:prstDash val="solid"/>
          </a:ln>
        </p:spPr>
      </p:sp>
      <p:sp>
        <p:nvSpPr>
          <p:cNvPr id="10" name="Text 8"/>
          <p:cNvSpPr/>
          <p:nvPr/>
        </p:nvSpPr>
        <p:spPr>
          <a:xfrm>
            <a:off x="3429000" y="850392"/>
            <a:ext cx="2706624"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Trained on Billions of Lines</a:t>
            </a:r>
            <a:endParaRPr lang="en-US" sz="1300" dirty="0"/>
          </a:p>
        </p:txBody>
      </p:sp>
      <p:sp>
        <p:nvSpPr>
          <p:cNvPr id="11" name="Text 9"/>
          <p:cNvSpPr/>
          <p:nvPr/>
        </p:nvSpPr>
        <p:spPr>
          <a:xfrm>
            <a:off x="3429000" y="1316736"/>
            <a:ext cx="2706624" cy="1481328"/>
          </a:xfrm>
          <a:prstGeom prst="rect">
            <a:avLst/>
          </a:prstGeom>
          <a:noFill/>
          <a:ln/>
        </p:spPr>
        <p:txBody>
          <a:bodyPr wrap="square" rtlCol="0" anchor="ctr"/>
          <a:lstStyle/>
          <a:p>
            <a:pPr marL="0" indent="0">
              <a:buNone/>
            </a:pPr>
            <a:r>
              <a:rPr lang="en-US" sz="1200" dirty="0">
                <a:solidFill>
                  <a:srgbClr val="1A202C"/>
                </a:solidFill>
                <a:latin typeface="Calibri" pitchFamily="34" charset="0"/>
                <a:ea typeface="Calibri" pitchFamily="34" charset="-122"/>
                <a:cs typeface="Calibri" pitchFamily="34" charset="-120"/>
              </a:rPr>
              <a:t>It has seen Python, Excel automation, SQL queries, PDF parsing — all the patterns you need already exist in its memory.</a:t>
            </a:r>
            <a:endParaRPr lang="en-US" sz="1200" dirty="0"/>
          </a:p>
        </p:txBody>
      </p:sp>
      <p:sp>
        <p:nvSpPr>
          <p:cNvPr id="12" name="Shape 10"/>
          <p:cNvSpPr/>
          <p:nvPr/>
        </p:nvSpPr>
        <p:spPr>
          <a:xfrm>
            <a:off x="6364224" y="804672"/>
            <a:ext cx="2926080" cy="2103120"/>
          </a:xfrm>
          <a:prstGeom prst="roundRect">
            <a:avLst>
              <a:gd name="adj" fmla="val 347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3" name="Shape 11"/>
          <p:cNvSpPr/>
          <p:nvPr/>
        </p:nvSpPr>
        <p:spPr>
          <a:xfrm>
            <a:off x="6364224" y="804672"/>
            <a:ext cx="2926080" cy="420624"/>
          </a:xfrm>
          <a:prstGeom prst="rect">
            <a:avLst/>
          </a:prstGeom>
          <a:solidFill>
            <a:srgbClr val="6B46C1"/>
          </a:solidFill>
          <a:ln w="12700">
            <a:solidFill>
              <a:srgbClr val="6B46C1"/>
            </a:solidFill>
            <a:prstDash val="solid"/>
          </a:ln>
        </p:spPr>
      </p:sp>
      <p:sp>
        <p:nvSpPr>
          <p:cNvPr id="14" name="Text 12"/>
          <p:cNvSpPr/>
          <p:nvPr/>
        </p:nvSpPr>
        <p:spPr>
          <a:xfrm>
            <a:off x="6473952" y="850392"/>
            <a:ext cx="2706624" cy="329184"/>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Context-Aware</a:t>
            </a:r>
            <a:endParaRPr lang="en-US" sz="1300" dirty="0"/>
          </a:p>
        </p:txBody>
      </p:sp>
      <p:sp>
        <p:nvSpPr>
          <p:cNvPr id="15" name="Text 13"/>
          <p:cNvSpPr/>
          <p:nvPr/>
        </p:nvSpPr>
        <p:spPr>
          <a:xfrm>
            <a:off x="6473952" y="1316736"/>
            <a:ext cx="2706624" cy="1481328"/>
          </a:xfrm>
          <a:prstGeom prst="rect">
            <a:avLst/>
          </a:prstGeom>
          <a:noFill/>
          <a:ln/>
        </p:spPr>
        <p:txBody>
          <a:bodyPr wrap="square" rtlCol="0" anchor="ctr"/>
          <a:lstStyle/>
          <a:p>
            <a:pPr marL="0" indent="0">
              <a:buNone/>
            </a:pPr>
            <a:r>
              <a:rPr lang="en-US" sz="1200" dirty="0">
                <a:solidFill>
                  <a:srgbClr val="1A202C"/>
                </a:solidFill>
                <a:latin typeface="Calibri" pitchFamily="34" charset="0"/>
                <a:ea typeface="Calibri" pitchFamily="34" charset="-122"/>
                <a:cs typeface="Calibri" pitchFamily="34" charset="-120"/>
              </a:rPr>
              <a:t>It reads your open file, your variable names, your comments. The better your context, the better the output.</a:t>
            </a:r>
            <a:endParaRPr lang="en-US" sz="1200" dirty="0"/>
          </a:p>
        </p:txBody>
      </p:sp>
      <p:sp>
        <p:nvSpPr>
          <p:cNvPr id="16" name="Shape 14"/>
          <p:cNvSpPr/>
          <p:nvPr/>
        </p:nvSpPr>
        <p:spPr>
          <a:xfrm>
            <a:off x="274320" y="3063240"/>
            <a:ext cx="8595360" cy="1737360"/>
          </a:xfrm>
          <a:prstGeom prst="roundRect">
            <a:avLst>
              <a:gd name="adj" fmla="val 4211"/>
            </a:avLst>
          </a:prstGeom>
          <a:solidFill>
            <a:srgbClr val="EFF6FF"/>
          </a:solidFill>
          <a:ln w="12700">
            <a:solidFill>
              <a:srgbClr val="2980B9"/>
            </a:solidFill>
            <a:prstDash val="solid"/>
          </a:ln>
        </p:spPr>
      </p:sp>
      <p:sp>
        <p:nvSpPr>
          <p:cNvPr id="17" name="Text 15"/>
          <p:cNvSpPr/>
          <p:nvPr/>
        </p:nvSpPr>
        <p:spPr>
          <a:xfrm>
            <a:off x="457200" y="3154680"/>
            <a:ext cx="8229600" cy="320040"/>
          </a:xfrm>
          <a:prstGeom prst="rect">
            <a:avLst/>
          </a:prstGeom>
          <a:noFill/>
          <a:ln/>
        </p:spPr>
        <p:txBody>
          <a:bodyPr wrap="square" rtlCol="0" anchor="ctr"/>
          <a:lstStyle/>
          <a:p>
            <a:pPr marL="0" indent="0">
              <a:buNone/>
            </a:pPr>
            <a:r>
              <a:rPr lang="en-US" sz="1300" b="1" dirty="0">
                <a:solidFill>
                  <a:srgbClr val="2980B9"/>
                </a:solidFill>
                <a:latin typeface="Calibri" pitchFamily="34" charset="0"/>
                <a:ea typeface="Calibri" pitchFamily="34" charset="-122"/>
                <a:cs typeface="Calibri" pitchFamily="34" charset="-120"/>
              </a:rPr>
              <a:t>The key insight for fund professionals:</a:t>
            </a:r>
            <a:endParaRPr lang="en-US" sz="1300" dirty="0"/>
          </a:p>
        </p:txBody>
      </p:sp>
      <p:sp>
        <p:nvSpPr>
          <p:cNvPr id="18" name="Text 16"/>
          <p:cNvSpPr/>
          <p:nvPr/>
        </p:nvSpPr>
        <p:spPr>
          <a:xfrm>
            <a:off x="457200" y="3520440"/>
            <a:ext cx="8229600" cy="1097280"/>
          </a:xfrm>
          <a:prstGeom prst="rect">
            <a:avLst/>
          </a:prstGeom>
          <a:noFill/>
          <a:ln/>
        </p:spPr>
        <p:txBody>
          <a:bodyPr wrap="square" rtlCol="0" anchor="ctr"/>
          <a:lstStyle/>
          <a:p>
            <a:pPr marL="0" indent="0">
              <a:buNone/>
            </a:pPr>
            <a:r>
              <a:rPr lang="en-US" sz="1300" dirty="0">
                <a:solidFill>
                  <a:srgbClr val="1A202C"/>
                </a:solidFill>
                <a:latin typeface="Calibri" pitchFamily="34" charset="0"/>
                <a:ea typeface="Calibri" pitchFamily="34" charset="-122"/>
                <a:cs typeface="Calibri" pitchFamily="34" charset="-120"/>
              </a:rPr>
              <a:t>You already know WHAT you want to automate. You know the business logic. Copilot handles the "how to write it in Python" part. Your domain knowledge + Copilot's coding ability = powerful automation.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Copilot Interface in VS Code — Your 3 Power Tools</a:t>
            </a:r>
            <a:endParaRPr lang="en-US" sz="2000" dirty="0"/>
          </a:p>
        </p:txBody>
      </p:sp>
      <p:sp>
        <p:nvSpPr>
          <p:cNvPr id="4" name="Shape 2"/>
          <p:cNvSpPr/>
          <p:nvPr/>
        </p:nvSpPr>
        <p:spPr>
          <a:xfrm>
            <a:off x="274320" y="777240"/>
            <a:ext cx="8595360" cy="1325880"/>
          </a:xfrm>
          <a:prstGeom prst="roundRect">
            <a:avLst>
              <a:gd name="adj" fmla="val 5517"/>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5" name="Text 3"/>
          <p:cNvSpPr/>
          <p:nvPr/>
        </p:nvSpPr>
        <p:spPr>
          <a:xfrm>
            <a:off x="457200" y="841248"/>
            <a:ext cx="8229600" cy="347472"/>
          </a:xfrm>
          <a:prstGeom prst="rect">
            <a:avLst/>
          </a:prstGeom>
          <a:noFill/>
          <a:ln/>
        </p:spPr>
        <p:txBody>
          <a:bodyPr wrap="square" rtlCol="0" anchor="ctr"/>
          <a:lstStyle/>
          <a:p>
            <a:pPr marL="0" indent="0">
              <a:buNone/>
            </a:pPr>
            <a:r>
              <a:rPr lang="en-US" sz="1400" b="1" dirty="0">
                <a:solidFill>
                  <a:srgbClr val="1A2E4A"/>
                </a:solidFill>
                <a:latin typeface="Calibri" pitchFamily="34" charset="0"/>
                <a:ea typeface="Calibri" pitchFamily="34" charset="-122"/>
                <a:cs typeface="Calibri" pitchFamily="34" charset="-120"/>
              </a:rPr>
              <a:t>1. Inline Autocomplete</a:t>
            </a:r>
            <a:endParaRPr lang="en-US" sz="1400" dirty="0"/>
          </a:p>
        </p:txBody>
      </p:sp>
      <p:sp>
        <p:nvSpPr>
          <p:cNvPr id="6" name="Text 4"/>
          <p:cNvSpPr/>
          <p:nvPr/>
        </p:nvSpPr>
        <p:spPr>
          <a:xfrm>
            <a:off x="457200" y="1207008"/>
            <a:ext cx="5029200" cy="804672"/>
          </a:xfrm>
          <a:prstGeom prst="rect">
            <a:avLst/>
          </a:prstGeom>
          <a:noFill/>
          <a:ln/>
        </p:spPr>
        <p:txBody>
          <a:bodyPr wrap="square" rtlCol="0" anchor="ctr"/>
          <a:lstStyle/>
          <a:p>
            <a:pPr marL="0" indent="0">
              <a:buNone/>
            </a:pPr>
            <a:r>
              <a:rPr lang="en-US" sz="1200" dirty="0">
                <a:solidFill>
                  <a:srgbClr val="1A202C"/>
                </a:solidFill>
                <a:latin typeface="Calibri" pitchFamily="34" charset="0"/>
                <a:ea typeface="Calibri" pitchFamily="34" charset="-122"/>
                <a:cs typeface="Calibri" pitchFamily="34" charset="-120"/>
              </a:rPr>
              <a:t>As you type, Copilot suggests the next line(s) in grey. Press TAB to accept. This is the fastest way to write routine code — loops, file reads, variable assignments.</a:t>
            </a:r>
            <a:endParaRPr lang="en-US" sz="1200" dirty="0"/>
          </a:p>
        </p:txBody>
      </p:sp>
      <p:sp>
        <p:nvSpPr>
          <p:cNvPr id="7" name="Shape 5"/>
          <p:cNvSpPr/>
          <p:nvPr/>
        </p:nvSpPr>
        <p:spPr>
          <a:xfrm>
            <a:off x="5577840" y="886968"/>
            <a:ext cx="3200400" cy="1005840"/>
          </a:xfrm>
          <a:prstGeom prst="roundRect">
            <a:avLst>
              <a:gd name="adj" fmla="val 5455"/>
            </a:avLst>
          </a:prstGeom>
          <a:solidFill>
            <a:srgbClr val="F0FDF9"/>
          </a:solidFill>
          <a:ln w="12700">
            <a:solidFill>
              <a:srgbClr val="0D7C66"/>
            </a:solidFill>
            <a:prstDash val="solid"/>
          </a:ln>
        </p:spPr>
      </p:sp>
      <p:sp>
        <p:nvSpPr>
          <p:cNvPr id="8" name="Text 6"/>
          <p:cNvSpPr/>
          <p:nvPr/>
        </p:nvSpPr>
        <p:spPr>
          <a:xfrm>
            <a:off x="5715000" y="941832"/>
            <a:ext cx="2926080" cy="877824"/>
          </a:xfrm>
          <a:prstGeom prst="rect">
            <a:avLst/>
          </a:prstGeom>
          <a:noFill/>
          <a:ln/>
        </p:spPr>
        <p:txBody>
          <a:bodyPr wrap="square" rtlCol="0" anchor="ctr"/>
          <a:lstStyle/>
          <a:p>
            <a:pPr marL="0" indent="0">
              <a:buNone/>
            </a:pPr>
            <a:r>
              <a:rPr lang="en-US" sz="1050" i="1" dirty="0">
                <a:solidFill>
                  <a:srgbClr val="0D7C66"/>
                </a:solidFill>
                <a:latin typeface="Calibri" pitchFamily="34" charset="0"/>
                <a:ea typeface="Calibri" pitchFamily="34" charset="-122"/>
                <a:cs typeface="Calibri" pitchFamily="34" charset="-120"/>
              </a:rPr>
              <a:t>TIP: Start typing a comment like # Read all Excel files in folder and watch it complete the entire function.</a:t>
            </a:r>
            <a:endParaRPr lang="en-US" sz="1050" dirty="0"/>
          </a:p>
        </p:txBody>
      </p:sp>
      <p:sp>
        <p:nvSpPr>
          <p:cNvPr id="9" name="Shape 7"/>
          <p:cNvSpPr/>
          <p:nvPr/>
        </p:nvSpPr>
        <p:spPr>
          <a:xfrm>
            <a:off x="274320" y="2194560"/>
            <a:ext cx="8595360" cy="1325880"/>
          </a:xfrm>
          <a:prstGeom prst="roundRect">
            <a:avLst>
              <a:gd name="adj" fmla="val 5517"/>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0" name="Text 8"/>
          <p:cNvSpPr/>
          <p:nvPr/>
        </p:nvSpPr>
        <p:spPr>
          <a:xfrm>
            <a:off x="457200" y="2258568"/>
            <a:ext cx="8229600" cy="347472"/>
          </a:xfrm>
          <a:prstGeom prst="rect">
            <a:avLst/>
          </a:prstGeom>
          <a:noFill/>
          <a:ln/>
        </p:spPr>
        <p:txBody>
          <a:bodyPr wrap="square" rtlCol="0" anchor="ctr"/>
          <a:lstStyle/>
          <a:p>
            <a:pPr marL="0" indent="0">
              <a:buNone/>
            </a:pPr>
            <a:r>
              <a:rPr lang="en-US" sz="1400" b="1" dirty="0">
                <a:solidFill>
                  <a:srgbClr val="0D7C66"/>
                </a:solidFill>
                <a:latin typeface="Calibri" pitchFamily="34" charset="0"/>
                <a:ea typeface="Calibri" pitchFamily="34" charset="-122"/>
                <a:cs typeface="Calibri" pitchFamily="34" charset="-120"/>
              </a:rPr>
              <a:t>2. Copilot Chat (Ctrl+Shift+I)</a:t>
            </a:r>
            <a:endParaRPr lang="en-US" sz="1400" dirty="0"/>
          </a:p>
        </p:txBody>
      </p:sp>
      <p:sp>
        <p:nvSpPr>
          <p:cNvPr id="11" name="Text 9"/>
          <p:cNvSpPr/>
          <p:nvPr/>
        </p:nvSpPr>
        <p:spPr>
          <a:xfrm>
            <a:off x="457200" y="2624328"/>
            <a:ext cx="5029200" cy="804672"/>
          </a:xfrm>
          <a:prstGeom prst="rect">
            <a:avLst/>
          </a:prstGeom>
          <a:noFill/>
          <a:ln/>
        </p:spPr>
        <p:txBody>
          <a:bodyPr wrap="square" rtlCol="0" anchor="ctr"/>
          <a:lstStyle/>
          <a:p>
            <a:pPr marL="0" indent="0">
              <a:buNone/>
            </a:pPr>
            <a:r>
              <a:rPr lang="en-US" sz="1200" dirty="0">
                <a:solidFill>
                  <a:srgbClr val="1A202C"/>
                </a:solidFill>
                <a:latin typeface="Calibri" pitchFamily="34" charset="0"/>
                <a:ea typeface="Calibri" pitchFamily="34" charset="-122"/>
                <a:cs typeface="Calibri" pitchFamily="34" charset="-120"/>
              </a:rPr>
              <a:t>A full chat window. Ask questions, request complete scripts, debug errors, explain code you don't understand. Like having a senior developer next to you.</a:t>
            </a:r>
            <a:endParaRPr lang="en-US" sz="1200" dirty="0"/>
          </a:p>
        </p:txBody>
      </p:sp>
      <p:sp>
        <p:nvSpPr>
          <p:cNvPr id="12" name="Shape 10"/>
          <p:cNvSpPr/>
          <p:nvPr/>
        </p:nvSpPr>
        <p:spPr>
          <a:xfrm>
            <a:off x="5577840" y="2304288"/>
            <a:ext cx="3200400" cy="1005840"/>
          </a:xfrm>
          <a:prstGeom prst="roundRect">
            <a:avLst>
              <a:gd name="adj" fmla="val 5455"/>
            </a:avLst>
          </a:prstGeom>
          <a:solidFill>
            <a:srgbClr val="F0FDF9"/>
          </a:solidFill>
          <a:ln w="12700">
            <a:solidFill>
              <a:srgbClr val="0D7C66"/>
            </a:solidFill>
            <a:prstDash val="solid"/>
          </a:ln>
        </p:spPr>
      </p:sp>
      <p:sp>
        <p:nvSpPr>
          <p:cNvPr id="13" name="Text 11"/>
          <p:cNvSpPr/>
          <p:nvPr/>
        </p:nvSpPr>
        <p:spPr>
          <a:xfrm>
            <a:off x="5715000" y="2359152"/>
            <a:ext cx="2926080" cy="877824"/>
          </a:xfrm>
          <a:prstGeom prst="rect">
            <a:avLst/>
          </a:prstGeom>
          <a:noFill/>
          <a:ln/>
        </p:spPr>
        <p:txBody>
          <a:bodyPr wrap="square" rtlCol="0" anchor="ctr"/>
          <a:lstStyle/>
          <a:p>
            <a:pPr marL="0" indent="0">
              <a:buNone/>
            </a:pPr>
            <a:r>
              <a:rPr lang="en-US" sz="1050" i="1" dirty="0">
                <a:solidFill>
                  <a:srgbClr val="0D7C66"/>
                </a:solidFill>
                <a:latin typeface="Calibri" pitchFamily="34" charset="0"/>
                <a:ea typeface="Calibri" pitchFamily="34" charset="-122"/>
                <a:cs typeface="Calibri" pitchFamily="34" charset="-120"/>
              </a:rPr>
              <a:t>TIP: Paste an error message directly into chat and ask 'What does this mean and how do I fix it?'</a:t>
            </a:r>
            <a:endParaRPr lang="en-US" sz="1050" dirty="0"/>
          </a:p>
        </p:txBody>
      </p:sp>
      <p:sp>
        <p:nvSpPr>
          <p:cNvPr id="14" name="Shape 12"/>
          <p:cNvSpPr/>
          <p:nvPr/>
        </p:nvSpPr>
        <p:spPr>
          <a:xfrm>
            <a:off x="274320" y="3611880"/>
            <a:ext cx="8595360" cy="1325880"/>
          </a:xfrm>
          <a:prstGeom prst="roundRect">
            <a:avLst>
              <a:gd name="adj" fmla="val 5517"/>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5" name="Text 13"/>
          <p:cNvSpPr/>
          <p:nvPr/>
        </p:nvSpPr>
        <p:spPr>
          <a:xfrm>
            <a:off x="457200" y="3675888"/>
            <a:ext cx="8229600" cy="347472"/>
          </a:xfrm>
          <a:prstGeom prst="rect">
            <a:avLst/>
          </a:prstGeom>
          <a:noFill/>
          <a:ln/>
        </p:spPr>
        <p:txBody>
          <a:bodyPr wrap="square" rtlCol="0" anchor="ctr"/>
          <a:lstStyle/>
          <a:p>
            <a:pPr marL="0" indent="0">
              <a:buNone/>
            </a:pPr>
            <a:r>
              <a:rPr lang="en-US" sz="1400" b="1" dirty="0">
                <a:solidFill>
                  <a:srgbClr val="E67E22"/>
                </a:solidFill>
                <a:latin typeface="Calibri" pitchFamily="34" charset="0"/>
                <a:ea typeface="Calibri" pitchFamily="34" charset="-122"/>
                <a:cs typeface="Calibri" pitchFamily="34" charset="-120"/>
              </a:rPr>
              <a:t>3. Inline Chat (Ctrl+I)</a:t>
            </a:r>
            <a:endParaRPr lang="en-US" sz="1400" dirty="0"/>
          </a:p>
        </p:txBody>
      </p:sp>
      <p:sp>
        <p:nvSpPr>
          <p:cNvPr id="16" name="Text 14"/>
          <p:cNvSpPr/>
          <p:nvPr/>
        </p:nvSpPr>
        <p:spPr>
          <a:xfrm>
            <a:off x="457200" y="4041648"/>
            <a:ext cx="5029200" cy="804672"/>
          </a:xfrm>
          <a:prstGeom prst="rect">
            <a:avLst/>
          </a:prstGeom>
          <a:noFill/>
          <a:ln/>
        </p:spPr>
        <p:txBody>
          <a:bodyPr wrap="square" rtlCol="0" anchor="ctr"/>
          <a:lstStyle/>
          <a:p>
            <a:pPr marL="0" indent="0">
              <a:buNone/>
            </a:pPr>
            <a:r>
              <a:rPr lang="en-US" sz="1200" dirty="0">
                <a:solidFill>
                  <a:srgbClr val="1A202C"/>
                </a:solidFill>
                <a:latin typeface="Calibri" pitchFamily="34" charset="0"/>
                <a:ea typeface="Calibri" pitchFamily="34" charset="-122"/>
                <a:cs typeface="Calibri" pitchFamily="34" charset="-120"/>
              </a:rPr>
              <a:t>Select a block of code, press Ctrl+I, and ask Copilot to change/fix/explain just that section. Surgical editing without rewriting everything.</a:t>
            </a:r>
            <a:endParaRPr lang="en-US" sz="1200" dirty="0"/>
          </a:p>
        </p:txBody>
      </p:sp>
      <p:sp>
        <p:nvSpPr>
          <p:cNvPr id="17" name="Shape 15"/>
          <p:cNvSpPr/>
          <p:nvPr/>
        </p:nvSpPr>
        <p:spPr>
          <a:xfrm>
            <a:off x="5577840" y="3721608"/>
            <a:ext cx="3200400" cy="1005840"/>
          </a:xfrm>
          <a:prstGeom prst="roundRect">
            <a:avLst>
              <a:gd name="adj" fmla="val 5455"/>
            </a:avLst>
          </a:prstGeom>
          <a:solidFill>
            <a:srgbClr val="F0FDF9"/>
          </a:solidFill>
          <a:ln w="12700">
            <a:solidFill>
              <a:srgbClr val="0D7C66"/>
            </a:solidFill>
            <a:prstDash val="solid"/>
          </a:ln>
        </p:spPr>
      </p:sp>
      <p:sp>
        <p:nvSpPr>
          <p:cNvPr id="18" name="Text 16"/>
          <p:cNvSpPr/>
          <p:nvPr/>
        </p:nvSpPr>
        <p:spPr>
          <a:xfrm>
            <a:off x="5715000" y="3776472"/>
            <a:ext cx="2926080" cy="877824"/>
          </a:xfrm>
          <a:prstGeom prst="rect">
            <a:avLst/>
          </a:prstGeom>
          <a:noFill/>
          <a:ln/>
        </p:spPr>
        <p:txBody>
          <a:bodyPr wrap="square" rtlCol="0" anchor="ctr"/>
          <a:lstStyle/>
          <a:p>
            <a:pPr marL="0" indent="0">
              <a:buNone/>
            </a:pPr>
            <a:r>
              <a:rPr lang="en-US" sz="1050" i="1" dirty="0">
                <a:solidFill>
                  <a:srgbClr val="0D7C66"/>
                </a:solidFill>
                <a:latin typeface="Calibri" pitchFamily="34" charset="0"/>
                <a:ea typeface="Calibri" pitchFamily="34" charset="-122"/>
                <a:cs typeface="Calibri" pitchFamily="34" charset="-120"/>
              </a:rPr>
              <a:t>TIP: Select a function and ask 'Add error handling and logging to this function'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Anatomy of a Great Copilot Prompt</a:t>
            </a:r>
            <a:endParaRPr lang="en-US" sz="2000" dirty="0"/>
          </a:p>
        </p:txBody>
      </p:sp>
      <p:sp>
        <p:nvSpPr>
          <p:cNvPr id="4" name="Shape 2"/>
          <p:cNvSpPr/>
          <p:nvPr/>
        </p:nvSpPr>
        <p:spPr>
          <a:xfrm>
            <a:off x="274320" y="777240"/>
            <a:ext cx="8595360" cy="1078992"/>
          </a:xfrm>
          <a:prstGeom prst="roundRect">
            <a:avLst>
              <a:gd name="adj" fmla="val 6780"/>
            </a:avLst>
          </a:prstGeom>
          <a:solidFill>
            <a:srgbClr val="FFF7ED"/>
          </a:solidFill>
          <a:ln w="12700">
            <a:solidFill>
              <a:srgbClr val="E67E22"/>
            </a:solidFill>
            <a:prstDash val="solid"/>
          </a:ln>
        </p:spPr>
      </p:sp>
      <p:sp>
        <p:nvSpPr>
          <p:cNvPr id="5" name="Text 3"/>
          <p:cNvSpPr/>
          <p:nvPr/>
        </p:nvSpPr>
        <p:spPr>
          <a:xfrm>
            <a:off x="457200" y="822960"/>
            <a:ext cx="3657600" cy="274320"/>
          </a:xfrm>
          <a:prstGeom prst="rect">
            <a:avLst/>
          </a:prstGeom>
          <a:noFill/>
          <a:ln/>
        </p:spPr>
        <p:txBody>
          <a:bodyPr wrap="square" rtlCol="0" anchor="ctr"/>
          <a:lstStyle/>
          <a:p>
            <a:pPr marL="0" indent="0">
              <a:buNone/>
            </a:pPr>
            <a:r>
              <a:rPr lang="en-US" sz="1300" b="1" dirty="0">
                <a:solidFill>
                  <a:srgbClr val="E67E22"/>
                </a:solidFill>
                <a:latin typeface="Calibri" pitchFamily="34" charset="0"/>
                <a:ea typeface="Calibri" pitchFamily="34" charset="-122"/>
                <a:cs typeface="Calibri" pitchFamily="34" charset="-120"/>
              </a:rPr>
              <a:t>The Prompt Formula:</a:t>
            </a:r>
            <a:endParaRPr lang="en-US" sz="1300" dirty="0"/>
          </a:p>
        </p:txBody>
      </p:sp>
      <p:sp>
        <p:nvSpPr>
          <p:cNvPr id="6" name="Text 4"/>
          <p:cNvSpPr/>
          <p:nvPr/>
        </p:nvSpPr>
        <p:spPr>
          <a:xfrm>
            <a:off x="457200" y="1133856"/>
            <a:ext cx="8229600" cy="566928"/>
          </a:xfrm>
          <a:prstGeom prst="rect">
            <a:avLst/>
          </a:prstGeom>
          <a:noFill/>
          <a:ln/>
        </p:spPr>
        <p:txBody>
          <a:bodyPr wrap="square" rtlCol="0" anchor="ctr"/>
          <a:lstStyle/>
          <a:p>
            <a:pPr marL="0" indent="0">
              <a:buNone/>
            </a:pPr>
            <a:r>
              <a:rPr lang="en-US" sz="1400" b="1" dirty="0">
                <a:solidFill>
                  <a:srgbClr val="1A202C"/>
                </a:solidFill>
                <a:latin typeface="Calibri" pitchFamily="34" charset="0"/>
                <a:ea typeface="Calibri" pitchFamily="34" charset="-122"/>
                <a:cs typeface="Calibri" pitchFamily="34" charset="-120"/>
              </a:rPr>
              <a:t>[CONTEXT]  +  [ACTION]  +  [DATA SHAPE]  +  [OUTPUT FORMAT]  +  [CONSTRAINTS]</a:t>
            </a:r>
            <a:endParaRPr lang="en-US" sz="1400" dirty="0"/>
          </a:p>
        </p:txBody>
      </p:sp>
      <p:sp>
        <p:nvSpPr>
          <p:cNvPr id="7" name="Shape 5"/>
          <p:cNvSpPr/>
          <p:nvPr/>
        </p:nvSpPr>
        <p:spPr>
          <a:xfrm>
            <a:off x="274320" y="1993392"/>
            <a:ext cx="1234440" cy="457200"/>
          </a:xfrm>
          <a:prstGeom prst="roundRect">
            <a:avLst>
              <a:gd name="adj" fmla="val 12000"/>
            </a:avLst>
          </a:prstGeom>
          <a:solidFill>
            <a:srgbClr val="1A2E4A"/>
          </a:solidFill>
          <a:ln w="12700">
            <a:solidFill>
              <a:srgbClr val="1A2E4A"/>
            </a:solidFill>
            <a:prstDash val="solid"/>
          </a:ln>
        </p:spPr>
      </p:sp>
      <p:sp>
        <p:nvSpPr>
          <p:cNvPr id="8" name="Text 6"/>
          <p:cNvSpPr/>
          <p:nvPr/>
        </p:nvSpPr>
        <p:spPr>
          <a:xfrm>
            <a:off x="274320" y="2048256"/>
            <a:ext cx="123444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CONTEXT</a:t>
            </a:r>
            <a:endParaRPr lang="en-US" sz="1100" dirty="0"/>
          </a:p>
        </p:txBody>
      </p:sp>
      <p:sp>
        <p:nvSpPr>
          <p:cNvPr id="9" name="Text 7"/>
          <p:cNvSpPr/>
          <p:nvPr/>
        </p:nvSpPr>
        <p:spPr>
          <a:xfrm>
            <a:off x="1627632" y="2029968"/>
            <a:ext cx="7178040" cy="420624"/>
          </a:xfrm>
          <a:prstGeom prst="rect">
            <a:avLst/>
          </a:prstGeom>
          <a:noFill/>
          <a:ln/>
        </p:spPr>
        <p:txBody>
          <a:bodyPr wrap="square" rtlCol="0" anchor="ctr"/>
          <a:lstStyle/>
          <a:p>
            <a:pPr marL="0" indent="0">
              <a:buNone/>
            </a:pPr>
            <a:r>
              <a:rPr lang="en-US" sz="1150" dirty="0">
                <a:solidFill>
                  <a:srgbClr val="1A202C"/>
                </a:solidFill>
                <a:latin typeface="Calibri" pitchFamily="34" charset="0"/>
                <a:ea typeface="Calibri" pitchFamily="34" charset="-122"/>
                <a:cs typeface="Calibri" pitchFamily="34" charset="-120"/>
              </a:rPr>
              <a:t>I work in fund accounting. I have 15 Excel files in C:\FundData, each from a different fund administrator.</a:t>
            </a:r>
            <a:endParaRPr lang="en-US" sz="1150" dirty="0"/>
          </a:p>
        </p:txBody>
      </p:sp>
      <p:sp>
        <p:nvSpPr>
          <p:cNvPr id="10" name="Shape 8"/>
          <p:cNvSpPr/>
          <p:nvPr/>
        </p:nvSpPr>
        <p:spPr>
          <a:xfrm>
            <a:off x="274320" y="2569464"/>
            <a:ext cx="1234440" cy="457200"/>
          </a:xfrm>
          <a:prstGeom prst="roundRect">
            <a:avLst>
              <a:gd name="adj" fmla="val 12000"/>
            </a:avLst>
          </a:prstGeom>
          <a:solidFill>
            <a:srgbClr val="0D7C66"/>
          </a:solidFill>
          <a:ln w="12700">
            <a:solidFill>
              <a:srgbClr val="0D7C66"/>
            </a:solidFill>
            <a:prstDash val="solid"/>
          </a:ln>
        </p:spPr>
      </p:sp>
      <p:sp>
        <p:nvSpPr>
          <p:cNvPr id="11" name="Text 9"/>
          <p:cNvSpPr/>
          <p:nvPr/>
        </p:nvSpPr>
        <p:spPr>
          <a:xfrm>
            <a:off x="274320" y="2624328"/>
            <a:ext cx="123444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ACTION</a:t>
            </a:r>
            <a:endParaRPr lang="en-US" sz="1100" dirty="0"/>
          </a:p>
        </p:txBody>
      </p:sp>
      <p:sp>
        <p:nvSpPr>
          <p:cNvPr id="12" name="Text 10"/>
          <p:cNvSpPr/>
          <p:nvPr/>
        </p:nvSpPr>
        <p:spPr>
          <a:xfrm>
            <a:off x="1627632" y="2606040"/>
            <a:ext cx="7178040" cy="420624"/>
          </a:xfrm>
          <a:prstGeom prst="rect">
            <a:avLst/>
          </a:prstGeom>
          <a:noFill/>
          <a:ln/>
        </p:spPr>
        <p:txBody>
          <a:bodyPr wrap="square" rtlCol="0" anchor="ctr"/>
          <a:lstStyle/>
          <a:p>
            <a:pPr marL="0" indent="0">
              <a:buNone/>
            </a:pPr>
            <a:r>
              <a:rPr lang="en-US" sz="1150" dirty="0">
                <a:solidFill>
                  <a:srgbClr val="1A202C"/>
                </a:solidFill>
                <a:latin typeface="Calibri" pitchFamily="34" charset="0"/>
                <a:ea typeface="Calibri" pitchFamily="34" charset="-122"/>
                <a:cs typeface="Calibri" pitchFamily="34" charset="-120"/>
              </a:rPr>
              <a:t>Open each file, navigate to the sheet called 'NAV Summary', and read the value in cell B5.</a:t>
            </a:r>
            <a:endParaRPr lang="en-US" sz="1150" dirty="0"/>
          </a:p>
        </p:txBody>
      </p:sp>
      <p:sp>
        <p:nvSpPr>
          <p:cNvPr id="13" name="Shape 11"/>
          <p:cNvSpPr/>
          <p:nvPr/>
        </p:nvSpPr>
        <p:spPr>
          <a:xfrm>
            <a:off x="274320" y="3145536"/>
            <a:ext cx="1234440" cy="457200"/>
          </a:xfrm>
          <a:prstGeom prst="roundRect">
            <a:avLst>
              <a:gd name="adj" fmla="val 12000"/>
            </a:avLst>
          </a:prstGeom>
          <a:solidFill>
            <a:srgbClr val="2980B9"/>
          </a:solidFill>
          <a:ln w="12700">
            <a:solidFill>
              <a:srgbClr val="2980B9"/>
            </a:solidFill>
            <a:prstDash val="solid"/>
          </a:ln>
        </p:spPr>
      </p:sp>
      <p:sp>
        <p:nvSpPr>
          <p:cNvPr id="14" name="Text 12"/>
          <p:cNvSpPr/>
          <p:nvPr/>
        </p:nvSpPr>
        <p:spPr>
          <a:xfrm>
            <a:off x="274320" y="3200400"/>
            <a:ext cx="123444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DATA SHAPE</a:t>
            </a:r>
            <a:endParaRPr lang="en-US" sz="1100" dirty="0"/>
          </a:p>
        </p:txBody>
      </p:sp>
      <p:sp>
        <p:nvSpPr>
          <p:cNvPr id="15" name="Text 13"/>
          <p:cNvSpPr/>
          <p:nvPr/>
        </p:nvSpPr>
        <p:spPr>
          <a:xfrm>
            <a:off x="1627632" y="3182112"/>
            <a:ext cx="7178040" cy="420624"/>
          </a:xfrm>
          <a:prstGeom prst="rect">
            <a:avLst/>
          </a:prstGeom>
          <a:noFill/>
          <a:ln/>
        </p:spPr>
        <p:txBody>
          <a:bodyPr wrap="square" rtlCol="0" anchor="ctr"/>
          <a:lstStyle/>
          <a:p>
            <a:pPr marL="0" indent="0">
              <a:buNone/>
            </a:pPr>
            <a:r>
              <a:rPr lang="en-US" sz="1150" dirty="0">
                <a:solidFill>
                  <a:srgbClr val="1A202C"/>
                </a:solidFill>
                <a:latin typeface="Calibri" pitchFamily="34" charset="0"/>
                <a:ea typeface="Calibri" pitchFamily="34" charset="-122"/>
                <a:cs typeface="Calibri" pitchFamily="34" charset="-120"/>
              </a:rPr>
              <a:t>Each file has the same structure. The fund name is in cell A1. The NAV date is in B3.</a:t>
            </a:r>
            <a:endParaRPr lang="en-US" sz="1150" dirty="0"/>
          </a:p>
        </p:txBody>
      </p:sp>
      <p:sp>
        <p:nvSpPr>
          <p:cNvPr id="16" name="Shape 14"/>
          <p:cNvSpPr/>
          <p:nvPr/>
        </p:nvSpPr>
        <p:spPr>
          <a:xfrm>
            <a:off x="274320" y="3721608"/>
            <a:ext cx="1234440" cy="457200"/>
          </a:xfrm>
          <a:prstGeom prst="roundRect">
            <a:avLst>
              <a:gd name="adj" fmla="val 12000"/>
            </a:avLst>
          </a:prstGeom>
          <a:solidFill>
            <a:srgbClr val="27AE60"/>
          </a:solidFill>
          <a:ln w="12700">
            <a:solidFill>
              <a:srgbClr val="27AE60"/>
            </a:solidFill>
            <a:prstDash val="solid"/>
          </a:ln>
        </p:spPr>
      </p:sp>
      <p:sp>
        <p:nvSpPr>
          <p:cNvPr id="17" name="Text 15"/>
          <p:cNvSpPr/>
          <p:nvPr/>
        </p:nvSpPr>
        <p:spPr>
          <a:xfrm>
            <a:off x="274320" y="3776472"/>
            <a:ext cx="123444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OUTPUT</a:t>
            </a:r>
            <a:endParaRPr lang="en-US" sz="1100" dirty="0"/>
          </a:p>
        </p:txBody>
      </p:sp>
      <p:sp>
        <p:nvSpPr>
          <p:cNvPr id="18" name="Text 16"/>
          <p:cNvSpPr/>
          <p:nvPr/>
        </p:nvSpPr>
        <p:spPr>
          <a:xfrm>
            <a:off x="1627632" y="3758184"/>
            <a:ext cx="7178040" cy="420624"/>
          </a:xfrm>
          <a:prstGeom prst="rect">
            <a:avLst/>
          </a:prstGeom>
          <a:noFill/>
          <a:ln/>
        </p:spPr>
        <p:txBody>
          <a:bodyPr wrap="square" rtlCol="0" anchor="ctr"/>
          <a:lstStyle/>
          <a:p>
            <a:pPr marL="0" indent="0">
              <a:buNone/>
            </a:pPr>
            <a:r>
              <a:rPr lang="en-US" sz="1150" dirty="0">
                <a:solidFill>
                  <a:srgbClr val="1A202C"/>
                </a:solidFill>
                <a:latin typeface="Calibri" pitchFamily="34" charset="0"/>
                <a:ea typeface="Calibri" pitchFamily="34" charset="-122"/>
                <a:cs typeface="Calibri" pitchFamily="34" charset="-120"/>
              </a:rPr>
              <a:t>Create a DataFrame with columns: FundName, NAVDate, NAVValue. Save to master_nav.xlsx.</a:t>
            </a:r>
            <a:endParaRPr lang="en-US" sz="1150" dirty="0"/>
          </a:p>
        </p:txBody>
      </p:sp>
      <p:sp>
        <p:nvSpPr>
          <p:cNvPr id="19" name="Shape 17"/>
          <p:cNvSpPr/>
          <p:nvPr/>
        </p:nvSpPr>
        <p:spPr>
          <a:xfrm>
            <a:off x="274320" y="4297680"/>
            <a:ext cx="1234440" cy="457200"/>
          </a:xfrm>
          <a:prstGeom prst="roundRect">
            <a:avLst>
              <a:gd name="adj" fmla="val 12000"/>
            </a:avLst>
          </a:prstGeom>
          <a:solidFill>
            <a:srgbClr val="C0392B"/>
          </a:solidFill>
          <a:ln w="12700">
            <a:solidFill>
              <a:srgbClr val="C0392B"/>
            </a:solidFill>
            <a:prstDash val="solid"/>
          </a:ln>
        </p:spPr>
      </p:sp>
      <p:sp>
        <p:nvSpPr>
          <p:cNvPr id="20" name="Text 18"/>
          <p:cNvSpPr/>
          <p:nvPr/>
        </p:nvSpPr>
        <p:spPr>
          <a:xfrm>
            <a:off x="274320" y="4352544"/>
            <a:ext cx="1234440" cy="329184"/>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CONSTRAINTS</a:t>
            </a:r>
            <a:endParaRPr lang="en-US" sz="1100" dirty="0"/>
          </a:p>
        </p:txBody>
      </p:sp>
      <p:sp>
        <p:nvSpPr>
          <p:cNvPr id="21" name="Text 19"/>
          <p:cNvSpPr/>
          <p:nvPr/>
        </p:nvSpPr>
        <p:spPr>
          <a:xfrm>
            <a:off x="1627632" y="4334256"/>
            <a:ext cx="7178040" cy="420624"/>
          </a:xfrm>
          <a:prstGeom prst="rect">
            <a:avLst/>
          </a:prstGeom>
          <a:noFill/>
          <a:ln/>
        </p:spPr>
        <p:txBody>
          <a:bodyPr wrap="square" rtlCol="0" anchor="ctr"/>
          <a:lstStyle/>
          <a:p>
            <a:pPr marL="0" indent="0">
              <a:buNone/>
            </a:pPr>
            <a:r>
              <a:rPr lang="en-US" sz="1150" dirty="0">
                <a:solidFill>
                  <a:srgbClr val="1A202C"/>
                </a:solidFill>
                <a:latin typeface="Calibri" pitchFamily="34" charset="0"/>
                <a:ea typeface="Calibri" pitchFamily="34" charset="-122"/>
                <a:cs typeface="Calibri" pitchFamily="34" charset="-120"/>
              </a:rPr>
              <a:t>If a file is missing the sheet, log the filename to errors.txt and continue.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Prompt Template 1: File Collection</a:t>
            </a:r>
            <a:endParaRPr lang="en-US" sz="2000" dirty="0"/>
          </a:p>
        </p:txBody>
      </p:sp>
      <p:sp>
        <p:nvSpPr>
          <p:cNvPr id="4" name="Text 2"/>
          <p:cNvSpPr/>
          <p:nvPr/>
        </p:nvSpPr>
        <p:spPr>
          <a:xfrm>
            <a:off x="320040" y="777240"/>
            <a:ext cx="8503920" cy="347472"/>
          </a:xfrm>
          <a:prstGeom prst="rect">
            <a:avLst/>
          </a:prstGeom>
          <a:noFill/>
          <a:ln/>
        </p:spPr>
        <p:txBody>
          <a:bodyPr wrap="square" rtlCol="0" anchor="ctr"/>
          <a:lstStyle/>
          <a:p>
            <a:pPr marL="0" indent="0">
              <a:buNone/>
            </a:pPr>
            <a:r>
              <a:rPr lang="en-US" sz="1300" b="1" dirty="0">
                <a:solidFill>
                  <a:srgbClr val="0D7C66"/>
                </a:solidFill>
                <a:latin typeface="Calibri" pitchFamily="34" charset="0"/>
                <a:ea typeface="Calibri" pitchFamily="34" charset="-122"/>
                <a:cs typeface="Calibri" pitchFamily="34" charset="-120"/>
              </a:rPr>
              <a:t>PURPOSE: Read data from multiple files in a folder</a:t>
            </a:r>
            <a:endParaRPr lang="en-US" sz="1300" dirty="0"/>
          </a:p>
        </p:txBody>
      </p:sp>
      <p:sp>
        <p:nvSpPr>
          <p:cNvPr id="5" name="Shape 3"/>
          <p:cNvSpPr/>
          <p:nvPr/>
        </p:nvSpPr>
        <p:spPr>
          <a:xfrm>
            <a:off x="320040" y="1188720"/>
            <a:ext cx="8503920" cy="3566160"/>
          </a:xfrm>
          <a:prstGeom prst="roundRect">
            <a:avLst>
              <a:gd name="adj" fmla="val 2564"/>
            </a:avLst>
          </a:prstGeom>
          <a:solidFill>
            <a:srgbClr val="F0FDF9"/>
          </a:solidFill>
          <a:ln w="12700">
            <a:solidFill>
              <a:srgbClr val="0D7C66"/>
            </a:solidFill>
            <a:prstDash val="solid"/>
          </a:ln>
        </p:spPr>
      </p:sp>
      <p:sp>
        <p:nvSpPr>
          <p:cNvPr id="6" name="Text 4"/>
          <p:cNvSpPr/>
          <p:nvPr/>
        </p:nvSpPr>
        <p:spPr>
          <a:xfrm>
            <a:off x="502920" y="1298448"/>
            <a:ext cx="3657600" cy="274320"/>
          </a:xfrm>
          <a:prstGeom prst="rect">
            <a:avLst/>
          </a:prstGeom>
          <a:noFill/>
          <a:ln/>
        </p:spPr>
        <p:txBody>
          <a:bodyPr wrap="square" rtlCol="0" anchor="ctr"/>
          <a:lstStyle/>
          <a:p>
            <a:pPr marL="0" indent="0">
              <a:buNone/>
            </a:pPr>
            <a:r>
              <a:rPr lang="en-US" sz="1200" b="1" dirty="0">
                <a:solidFill>
                  <a:srgbClr val="0D7C66"/>
                </a:solidFill>
                <a:latin typeface="Calibri" pitchFamily="34" charset="0"/>
                <a:ea typeface="Calibri" pitchFamily="34" charset="-122"/>
                <a:cs typeface="Calibri" pitchFamily="34" charset="-120"/>
              </a:rPr>
              <a:t>💬  COPILOT PROMPT:</a:t>
            </a:r>
            <a:endParaRPr lang="en-US" sz="1200" dirty="0"/>
          </a:p>
        </p:txBody>
      </p:sp>
      <p:sp>
        <p:nvSpPr>
          <p:cNvPr id="7" name="Text 5"/>
          <p:cNvSpPr/>
          <p:nvPr/>
        </p:nvSpPr>
        <p:spPr>
          <a:xfrm>
            <a:off x="502920" y="1627632"/>
            <a:ext cx="8138160" cy="2926080"/>
          </a:xfrm>
          <a:prstGeom prst="rect">
            <a:avLst/>
          </a:prstGeom>
          <a:noFill/>
          <a:ln/>
        </p:spPr>
        <p:txBody>
          <a:bodyPr wrap="square" rtlCol="0" anchor="t"/>
          <a:lstStyle/>
          <a:p>
            <a:pPr marL="0" indent="0">
              <a:buNone/>
            </a:pPr>
            <a:r>
              <a:rPr lang="en-US" sz="1300" dirty="0">
                <a:solidFill>
                  <a:srgbClr val="1A202C"/>
                </a:solidFill>
                <a:latin typeface="Courier New" pitchFamily="34" charset="0"/>
                <a:ea typeface="Courier New" pitchFamily="34" charset="-122"/>
                <a:cs typeface="Courier New" pitchFamily="34" charset="-120"/>
              </a:rPr>
              <a:t>I work in fund accounting. I have [NUMBER] Excel files in the folder [FOLDER_PATH].</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Each file represents one fund. Each file has a sheet called "[SHEET_NAME]".</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I need to:</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1. Open every Excel file in the folder</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2. Read the value from cell [CELL_REF] (this is the [FIELD_NAME])</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3. Also read [CELL_REF2] for the [FIELD2_NAME]</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4. Collect all values into a master DataFrame with columns: FileName, FundName, [FIELD_NAME], [FIELD2_NAME], Date</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5. Save the result to [OUTPUT_FILE].xlsx</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6. If any file fails to open, log the error to errors.txt and continue</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Please write this in Python using pandas and openpyxl.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Prompt Template 2: PDF Extraction</a:t>
            </a:r>
            <a:endParaRPr lang="en-US" sz="2000" dirty="0"/>
          </a:p>
        </p:txBody>
      </p:sp>
      <p:sp>
        <p:nvSpPr>
          <p:cNvPr id="4" name="Text 2"/>
          <p:cNvSpPr/>
          <p:nvPr/>
        </p:nvSpPr>
        <p:spPr>
          <a:xfrm>
            <a:off x="320040" y="777240"/>
            <a:ext cx="8503920" cy="347472"/>
          </a:xfrm>
          <a:prstGeom prst="rect">
            <a:avLst/>
          </a:prstGeom>
          <a:noFill/>
          <a:ln/>
        </p:spPr>
        <p:txBody>
          <a:bodyPr wrap="square" rtlCol="0" anchor="ctr"/>
          <a:lstStyle/>
          <a:p>
            <a:pPr marL="0" indent="0">
              <a:buNone/>
            </a:pPr>
            <a:r>
              <a:rPr lang="en-US" sz="1300" b="1" dirty="0">
                <a:solidFill>
                  <a:srgbClr val="0D7C66"/>
                </a:solidFill>
                <a:latin typeface="Calibri" pitchFamily="34" charset="0"/>
                <a:ea typeface="Calibri" pitchFamily="34" charset="-122"/>
                <a:cs typeface="Calibri" pitchFamily="34" charset="-120"/>
              </a:rPr>
              <a:t>PURPOSE: Extract structured data from a PDF report</a:t>
            </a:r>
            <a:endParaRPr lang="en-US" sz="1300" dirty="0"/>
          </a:p>
        </p:txBody>
      </p:sp>
      <p:sp>
        <p:nvSpPr>
          <p:cNvPr id="5" name="Shape 3"/>
          <p:cNvSpPr/>
          <p:nvPr/>
        </p:nvSpPr>
        <p:spPr>
          <a:xfrm>
            <a:off x="320040" y="1188720"/>
            <a:ext cx="8503920" cy="3566160"/>
          </a:xfrm>
          <a:prstGeom prst="roundRect">
            <a:avLst>
              <a:gd name="adj" fmla="val 2564"/>
            </a:avLst>
          </a:prstGeom>
          <a:solidFill>
            <a:srgbClr val="F0FDF9"/>
          </a:solidFill>
          <a:ln w="12700">
            <a:solidFill>
              <a:srgbClr val="0D7C66"/>
            </a:solidFill>
            <a:prstDash val="solid"/>
          </a:ln>
        </p:spPr>
      </p:sp>
      <p:sp>
        <p:nvSpPr>
          <p:cNvPr id="6" name="Text 4"/>
          <p:cNvSpPr/>
          <p:nvPr/>
        </p:nvSpPr>
        <p:spPr>
          <a:xfrm>
            <a:off x="502920" y="1298448"/>
            <a:ext cx="3657600" cy="274320"/>
          </a:xfrm>
          <a:prstGeom prst="rect">
            <a:avLst/>
          </a:prstGeom>
          <a:noFill/>
          <a:ln/>
        </p:spPr>
        <p:txBody>
          <a:bodyPr wrap="square" rtlCol="0" anchor="ctr"/>
          <a:lstStyle/>
          <a:p>
            <a:pPr marL="0" indent="0">
              <a:buNone/>
            </a:pPr>
            <a:r>
              <a:rPr lang="en-US" sz="1200" b="1" dirty="0">
                <a:solidFill>
                  <a:srgbClr val="0D7C66"/>
                </a:solidFill>
                <a:latin typeface="Calibri" pitchFamily="34" charset="0"/>
                <a:ea typeface="Calibri" pitchFamily="34" charset="-122"/>
                <a:cs typeface="Calibri" pitchFamily="34" charset="-120"/>
              </a:rPr>
              <a:t>💬  COPILOT PROMPT:</a:t>
            </a:r>
            <a:endParaRPr lang="en-US" sz="1200" dirty="0"/>
          </a:p>
        </p:txBody>
      </p:sp>
      <p:sp>
        <p:nvSpPr>
          <p:cNvPr id="7" name="Text 5"/>
          <p:cNvSpPr/>
          <p:nvPr/>
        </p:nvSpPr>
        <p:spPr>
          <a:xfrm>
            <a:off x="502920" y="1627632"/>
            <a:ext cx="8138160" cy="2926080"/>
          </a:xfrm>
          <a:prstGeom prst="rect">
            <a:avLst/>
          </a:prstGeom>
          <a:noFill/>
          <a:ln/>
        </p:spPr>
        <p:txBody>
          <a:bodyPr wrap="square" rtlCol="0" anchor="t"/>
          <a:lstStyle/>
          <a:p>
            <a:pPr marL="0" indent="0">
              <a:buNone/>
            </a:pPr>
            <a:r>
              <a:rPr lang="en-US" sz="1300" dirty="0">
                <a:solidFill>
                  <a:srgbClr val="1A202C"/>
                </a:solidFill>
                <a:latin typeface="Courier New" pitchFamily="34" charset="0"/>
                <a:ea typeface="Courier New" pitchFamily="34" charset="-122"/>
                <a:cs typeface="Courier New" pitchFamily="34" charset="-120"/>
              </a:rPr>
              <a:t>I have a PDF file at [FILE_PATH]. It is a [REPORT_TYPE] (e.g. fund statement, NAV report).</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I need to extract the following fields:</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 [FIELD_1] (appears after the label "[LABEL_TEXT_1]")</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 [FIELD_2] (appears in a table on page [PAGE_NUMBER], column "[COL_NAME]")</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 [FIELD_3] (appears in the header section)</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Please write Python code using pdfplumber to:</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1. Open the PDF</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2. Extract the fields listed above</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3. Return them as a Python dictionary</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4. Handle the case where a field is not found (return None)</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5. Print the extracted values for verification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Prompt Template 3: Reconciliation</a:t>
            </a:r>
            <a:endParaRPr lang="en-US" sz="2000" dirty="0"/>
          </a:p>
        </p:txBody>
      </p:sp>
      <p:sp>
        <p:nvSpPr>
          <p:cNvPr id="4" name="Text 2"/>
          <p:cNvSpPr/>
          <p:nvPr/>
        </p:nvSpPr>
        <p:spPr>
          <a:xfrm>
            <a:off x="320040" y="777240"/>
            <a:ext cx="8503920" cy="347472"/>
          </a:xfrm>
          <a:prstGeom prst="rect">
            <a:avLst/>
          </a:prstGeom>
          <a:noFill/>
          <a:ln/>
        </p:spPr>
        <p:txBody>
          <a:bodyPr wrap="square" rtlCol="0" anchor="ctr"/>
          <a:lstStyle/>
          <a:p>
            <a:pPr marL="0" indent="0">
              <a:buNone/>
            </a:pPr>
            <a:r>
              <a:rPr lang="en-US" sz="1300" b="1" dirty="0">
                <a:solidFill>
                  <a:srgbClr val="0D7C66"/>
                </a:solidFill>
                <a:latin typeface="Calibri" pitchFamily="34" charset="0"/>
                <a:ea typeface="Calibri" pitchFamily="34" charset="-122"/>
                <a:cs typeface="Calibri" pitchFamily="34" charset="-120"/>
              </a:rPr>
              <a:t>PURPOSE: Compare two data sources and generate exception report</a:t>
            </a:r>
            <a:endParaRPr lang="en-US" sz="1300" dirty="0"/>
          </a:p>
        </p:txBody>
      </p:sp>
      <p:sp>
        <p:nvSpPr>
          <p:cNvPr id="5" name="Shape 3"/>
          <p:cNvSpPr/>
          <p:nvPr/>
        </p:nvSpPr>
        <p:spPr>
          <a:xfrm>
            <a:off x="320040" y="1188720"/>
            <a:ext cx="8503920" cy="3566160"/>
          </a:xfrm>
          <a:prstGeom prst="roundRect">
            <a:avLst>
              <a:gd name="adj" fmla="val 2564"/>
            </a:avLst>
          </a:prstGeom>
          <a:solidFill>
            <a:srgbClr val="F0FDF9"/>
          </a:solidFill>
          <a:ln w="12700">
            <a:solidFill>
              <a:srgbClr val="0D7C66"/>
            </a:solidFill>
            <a:prstDash val="solid"/>
          </a:ln>
        </p:spPr>
      </p:sp>
      <p:sp>
        <p:nvSpPr>
          <p:cNvPr id="6" name="Text 4"/>
          <p:cNvSpPr/>
          <p:nvPr/>
        </p:nvSpPr>
        <p:spPr>
          <a:xfrm>
            <a:off x="502920" y="1298448"/>
            <a:ext cx="3657600" cy="274320"/>
          </a:xfrm>
          <a:prstGeom prst="rect">
            <a:avLst/>
          </a:prstGeom>
          <a:noFill/>
          <a:ln/>
        </p:spPr>
        <p:txBody>
          <a:bodyPr wrap="square" rtlCol="0" anchor="ctr"/>
          <a:lstStyle/>
          <a:p>
            <a:pPr marL="0" indent="0">
              <a:buNone/>
            </a:pPr>
            <a:r>
              <a:rPr lang="en-US" sz="1200" b="1" dirty="0">
                <a:solidFill>
                  <a:srgbClr val="0D7C66"/>
                </a:solidFill>
                <a:latin typeface="Calibri" pitchFamily="34" charset="0"/>
                <a:ea typeface="Calibri" pitchFamily="34" charset="-122"/>
                <a:cs typeface="Calibri" pitchFamily="34" charset="-120"/>
              </a:rPr>
              <a:t>💬  COPILOT PROMPT:</a:t>
            </a:r>
            <a:endParaRPr lang="en-US" sz="1200" dirty="0"/>
          </a:p>
        </p:txBody>
      </p:sp>
      <p:sp>
        <p:nvSpPr>
          <p:cNvPr id="7" name="Text 5"/>
          <p:cNvSpPr/>
          <p:nvPr/>
        </p:nvSpPr>
        <p:spPr>
          <a:xfrm>
            <a:off x="502920" y="1627632"/>
            <a:ext cx="8138160" cy="2926080"/>
          </a:xfrm>
          <a:prstGeom prst="rect">
            <a:avLst/>
          </a:prstGeom>
          <a:noFill/>
          <a:ln/>
        </p:spPr>
        <p:txBody>
          <a:bodyPr wrap="square" rtlCol="0" anchor="t"/>
          <a:lstStyle/>
          <a:p>
            <a:pPr marL="0" indent="0">
              <a:buNone/>
            </a:pPr>
            <a:r>
              <a:rPr lang="en-US" sz="1300" dirty="0">
                <a:solidFill>
                  <a:srgbClr val="1A202C"/>
                </a:solidFill>
                <a:latin typeface="Courier New" pitchFamily="34" charset="0"/>
                <a:ea typeface="Courier New" pitchFamily="34" charset="-122"/>
                <a:cs typeface="Courier New" pitchFamily="34" charset="-120"/>
              </a:rPr>
              <a:t>I have two data sources I need to reconcile:</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Source A: [SOURCE_A_DESCRIPTION] — columns: [COL1, COL2, COL3]</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Source B: [SOURCE_B_DESCRIPTION] — columns: [COL1, COL2, COL3]</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The matching key is: [KEY_COLUMN]</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I need to:</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1. Load both sources into pandas DataFrames</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2. Match records by [KEY_COLUMN]</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3. Compare [VALUE_COLUMN] between the two sources</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4. Flag any difference greater than [TOLERANCE] as an exception</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5. Identify records in Source A missing from Source B (and vice versa)</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6. Output: matched_clean.xlsx, exceptions.xlsx, missing_in_b.xlsx, missing_in_a.xlsx</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7. Add a summary sheet with counts and total variance</a:t>
            </a:r>
            <a:endParaRPr lang="en-US" sz="1300" dirty="0"/>
          </a:p>
          <a:p>
            <a:pPr marL="0" indent="0">
              <a:buNone/>
            </a:pPr>
            <a:r>
              <a:rPr lang="en-US" sz="1300" dirty="0">
                <a:solidFill>
                  <a:srgbClr val="1A202C"/>
                </a:solidFill>
                <a:latin typeface="Courier New" pitchFamily="34" charset="0"/>
                <a:ea typeface="Courier New" pitchFamily="34" charset="-122"/>
                <a:cs typeface="Courier New" pitchFamily="34" charset="-120"/>
              </a:rPr>
              <a:t>Please use pandas merge and write to Excel with xlsxwriter formatting.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Prompt Template 4: Error Fixing</a:t>
            </a:r>
            <a:endParaRPr lang="en-US" sz="2000" dirty="0"/>
          </a:p>
        </p:txBody>
      </p:sp>
      <p:sp>
        <p:nvSpPr>
          <p:cNvPr id="4" name="Text 2"/>
          <p:cNvSpPr/>
          <p:nvPr/>
        </p:nvSpPr>
        <p:spPr>
          <a:xfrm>
            <a:off x="320040" y="777240"/>
            <a:ext cx="8503920" cy="347472"/>
          </a:xfrm>
          <a:prstGeom prst="rect">
            <a:avLst/>
          </a:prstGeom>
          <a:noFill/>
          <a:ln/>
        </p:spPr>
        <p:txBody>
          <a:bodyPr wrap="square" rtlCol="0" anchor="ctr"/>
          <a:lstStyle/>
          <a:p>
            <a:pPr marL="0" indent="0">
              <a:buNone/>
            </a:pPr>
            <a:r>
              <a:rPr lang="en-US" sz="1300" b="1" dirty="0">
                <a:solidFill>
                  <a:srgbClr val="0D7C66"/>
                </a:solidFill>
                <a:latin typeface="Calibri" pitchFamily="34" charset="0"/>
                <a:ea typeface="Calibri" pitchFamily="34" charset="-122"/>
                <a:cs typeface="Calibri" pitchFamily="34" charset="-120"/>
              </a:rPr>
              <a:t>PURPOSE: Debug and fix code that isn't working</a:t>
            </a:r>
            <a:endParaRPr lang="en-US" sz="1300" dirty="0"/>
          </a:p>
        </p:txBody>
      </p:sp>
      <p:sp>
        <p:nvSpPr>
          <p:cNvPr id="5" name="Shape 3"/>
          <p:cNvSpPr/>
          <p:nvPr/>
        </p:nvSpPr>
        <p:spPr>
          <a:xfrm>
            <a:off x="320040" y="1188720"/>
            <a:ext cx="8503920" cy="3566160"/>
          </a:xfrm>
          <a:prstGeom prst="roundRect">
            <a:avLst>
              <a:gd name="adj" fmla="val 2564"/>
            </a:avLst>
          </a:prstGeom>
          <a:solidFill>
            <a:srgbClr val="F0FDF9"/>
          </a:solidFill>
          <a:ln w="12700">
            <a:solidFill>
              <a:srgbClr val="0D7C66"/>
            </a:solidFill>
            <a:prstDash val="solid"/>
          </a:ln>
        </p:spPr>
      </p:sp>
      <p:sp>
        <p:nvSpPr>
          <p:cNvPr id="6" name="Text 4"/>
          <p:cNvSpPr/>
          <p:nvPr/>
        </p:nvSpPr>
        <p:spPr>
          <a:xfrm>
            <a:off x="502920" y="1298448"/>
            <a:ext cx="3657600" cy="274320"/>
          </a:xfrm>
          <a:prstGeom prst="rect">
            <a:avLst/>
          </a:prstGeom>
          <a:noFill/>
          <a:ln/>
        </p:spPr>
        <p:txBody>
          <a:bodyPr wrap="square" rtlCol="0" anchor="ctr"/>
          <a:lstStyle/>
          <a:p>
            <a:pPr marL="0" indent="0">
              <a:buNone/>
            </a:pPr>
            <a:r>
              <a:rPr lang="en-US" sz="1200" b="1" dirty="0">
                <a:solidFill>
                  <a:srgbClr val="0D7C66"/>
                </a:solidFill>
                <a:latin typeface="Calibri" pitchFamily="34" charset="0"/>
                <a:ea typeface="Calibri" pitchFamily="34" charset="-122"/>
                <a:cs typeface="Calibri" pitchFamily="34" charset="-120"/>
              </a:rPr>
              <a:t>💬  COPILOT PROMPT:</a:t>
            </a:r>
            <a:endParaRPr lang="en-US" sz="1200" dirty="0"/>
          </a:p>
        </p:txBody>
      </p:sp>
      <p:sp>
        <p:nvSpPr>
          <p:cNvPr id="7" name="Text 5"/>
          <p:cNvSpPr/>
          <p:nvPr/>
        </p:nvSpPr>
        <p:spPr>
          <a:xfrm>
            <a:off x="502920" y="1627632"/>
            <a:ext cx="8138160" cy="2926080"/>
          </a:xfrm>
          <a:prstGeom prst="rect">
            <a:avLst/>
          </a:prstGeom>
          <a:noFill/>
          <a:ln/>
        </p:spPr>
        <p:txBody>
          <a:bodyPr wrap="square" rtlCol="0" anchor="t"/>
          <a:lstStyle/>
          <a:p>
            <a:pPr marL="0" indent="0">
              <a:buNone/>
            </a:pPr>
            <a:r>
              <a:rPr lang="en-US" sz="1100" dirty="0">
                <a:solidFill>
                  <a:srgbClr val="1A202C"/>
                </a:solidFill>
                <a:latin typeface="Courier New" pitchFamily="34" charset="0"/>
                <a:ea typeface="Courier New" pitchFamily="34" charset="-122"/>
                <a:cs typeface="Courier New" pitchFamily="34" charset="-120"/>
              </a:rPr>
              <a:t>I ran this Python code and got an error. Please help me fix it.</a:t>
            </a:r>
            <a:endParaRPr lang="en-US" sz="1100" dirty="0"/>
          </a:p>
          <a:p>
            <a:pPr marL="0" indent="0">
              <a:buNone/>
            </a:pPr>
            <a:endParaRPr lang="en-US" sz="1100" dirty="0"/>
          </a:p>
          <a:p>
            <a:pPr marL="0" indent="0">
              <a:buNone/>
            </a:pPr>
            <a:r>
              <a:rPr lang="en-US" sz="1100" dirty="0">
                <a:solidFill>
                  <a:srgbClr val="1A202C"/>
                </a:solidFill>
                <a:latin typeface="Courier New" pitchFamily="34" charset="0"/>
                <a:ea typeface="Courier New" pitchFamily="34" charset="-122"/>
                <a:cs typeface="Courier New" pitchFamily="34" charset="-120"/>
              </a:rPr>
              <a:t>Here is the code:</a:t>
            </a:r>
            <a:endParaRPr lang="en-US" sz="1100" dirty="0"/>
          </a:p>
          <a:p>
            <a:pPr marL="0" indent="0">
              <a:buNone/>
            </a:pPr>
            <a:r>
              <a:rPr lang="en-US" sz="1100" dirty="0">
                <a:solidFill>
                  <a:srgbClr val="1A202C"/>
                </a:solidFill>
                <a:latin typeface="Courier New" pitchFamily="34" charset="0"/>
                <a:ea typeface="Courier New" pitchFamily="34" charset="-122"/>
                <a:cs typeface="Courier New" pitchFamily="34" charset="-120"/>
              </a:rPr>
              <a:t>[PASTE YOUR CODE HERE]</a:t>
            </a:r>
            <a:endParaRPr lang="en-US" sz="1100" dirty="0"/>
          </a:p>
          <a:p>
            <a:pPr marL="0" indent="0">
              <a:buNone/>
            </a:pPr>
            <a:endParaRPr lang="en-US" sz="1100" dirty="0"/>
          </a:p>
          <a:p>
            <a:pPr marL="0" indent="0">
              <a:buNone/>
            </a:pPr>
            <a:r>
              <a:rPr lang="en-US" sz="1100" dirty="0">
                <a:solidFill>
                  <a:srgbClr val="1A202C"/>
                </a:solidFill>
                <a:latin typeface="Courier New" pitchFamily="34" charset="0"/>
                <a:ea typeface="Courier New" pitchFamily="34" charset="-122"/>
                <a:cs typeface="Courier New" pitchFamily="34" charset="-120"/>
              </a:rPr>
              <a:t>Here is the error message:</a:t>
            </a:r>
            <a:endParaRPr lang="en-US" sz="1100" dirty="0"/>
          </a:p>
          <a:p>
            <a:pPr marL="0" indent="0">
              <a:buNone/>
            </a:pPr>
            <a:r>
              <a:rPr lang="en-US" sz="1100" dirty="0">
                <a:solidFill>
                  <a:srgbClr val="1A202C"/>
                </a:solidFill>
                <a:latin typeface="Courier New" pitchFamily="34" charset="0"/>
                <a:ea typeface="Courier New" pitchFamily="34" charset="-122"/>
                <a:cs typeface="Courier New" pitchFamily="34" charset="-120"/>
              </a:rPr>
              <a:t>[PASTE ERROR MESSAGE HERE]</a:t>
            </a:r>
            <a:endParaRPr lang="en-US" sz="1100" dirty="0"/>
          </a:p>
          <a:p>
            <a:pPr marL="0" indent="0">
              <a:buNone/>
            </a:pPr>
            <a:endParaRPr lang="en-US" sz="1100" dirty="0"/>
          </a:p>
          <a:p>
            <a:pPr marL="0" indent="0">
              <a:buNone/>
            </a:pPr>
            <a:r>
              <a:rPr lang="en-US" sz="1100" dirty="0">
                <a:solidFill>
                  <a:srgbClr val="1A202C"/>
                </a:solidFill>
                <a:latin typeface="Courier New" pitchFamily="34" charset="0"/>
                <a:ea typeface="Courier New" pitchFamily="34" charset="-122"/>
                <a:cs typeface="Courier New" pitchFamily="34" charset="-120"/>
              </a:rPr>
              <a:t>Additional context:</a:t>
            </a:r>
            <a:endParaRPr lang="en-US" sz="1100" dirty="0"/>
          </a:p>
          <a:p>
            <a:pPr marL="0" indent="0">
              <a:buNone/>
            </a:pPr>
            <a:r>
              <a:rPr lang="en-US" sz="1100" dirty="0">
                <a:solidFill>
                  <a:srgbClr val="1A202C"/>
                </a:solidFill>
                <a:latin typeface="Courier New" pitchFamily="34" charset="0"/>
                <a:ea typeface="Courier New" pitchFamily="34" charset="-122"/>
                <a:cs typeface="Courier New" pitchFamily="34" charset="-120"/>
              </a:rPr>
              <a:t>- I am running Python [VERSION] on Windows</a:t>
            </a:r>
            <a:endParaRPr lang="en-US" sz="1100" dirty="0"/>
          </a:p>
          <a:p>
            <a:pPr marL="0" indent="0">
              <a:buNone/>
            </a:pPr>
            <a:r>
              <a:rPr lang="en-US" sz="1100" dirty="0">
                <a:solidFill>
                  <a:srgbClr val="1A202C"/>
                </a:solidFill>
                <a:latin typeface="Courier New" pitchFamily="34" charset="0"/>
                <a:ea typeface="Courier New" pitchFamily="34" charset="-122"/>
                <a:cs typeface="Courier New" pitchFamily="34" charset="-120"/>
              </a:rPr>
              <a:t>- The file I am trying to read is: [FILE_PATH]</a:t>
            </a:r>
            <a:endParaRPr lang="en-US" sz="1100" dirty="0"/>
          </a:p>
          <a:p>
            <a:pPr marL="0" indent="0">
              <a:buNone/>
            </a:pPr>
            <a:r>
              <a:rPr lang="en-US" sz="1100" dirty="0">
                <a:solidFill>
                  <a:srgbClr val="1A202C"/>
                </a:solidFill>
                <a:latin typeface="Courier New" pitchFamily="34" charset="0"/>
                <a:ea typeface="Courier New" pitchFamily="34" charset="-122"/>
                <a:cs typeface="Courier New" pitchFamily="34" charset="-120"/>
              </a:rPr>
              <a:t>- The file has [NUMBER] rows and these columns: [COLUMN NAMES]</a:t>
            </a:r>
            <a:endParaRPr lang="en-US" sz="1100" dirty="0"/>
          </a:p>
          <a:p>
            <a:pPr marL="0" indent="0">
              <a:buNone/>
            </a:pPr>
            <a:endParaRPr lang="en-US" sz="1100" dirty="0"/>
          </a:p>
          <a:p>
            <a:pPr marL="0" indent="0">
              <a:buNone/>
            </a:pPr>
            <a:r>
              <a:rPr lang="en-US" sz="1100" dirty="0">
                <a:solidFill>
                  <a:srgbClr val="1A202C"/>
                </a:solidFill>
                <a:latin typeface="Courier New" pitchFamily="34" charset="0"/>
                <a:ea typeface="Courier New" pitchFamily="34" charset="-122"/>
                <a:cs typeface="Courier New" pitchFamily="34" charset="-120"/>
              </a:rPr>
              <a:t>Please:</a:t>
            </a:r>
            <a:endParaRPr lang="en-US" sz="1100" dirty="0"/>
          </a:p>
          <a:p>
            <a:pPr marL="0" indent="0">
              <a:buNone/>
            </a:pPr>
            <a:r>
              <a:rPr lang="en-US" sz="1100" dirty="0">
                <a:solidFill>
                  <a:srgbClr val="1A202C"/>
                </a:solidFill>
                <a:latin typeface="Courier New" pitchFamily="34" charset="0"/>
                <a:ea typeface="Courier New" pitchFamily="34" charset="-122"/>
                <a:cs typeface="Courier New" pitchFamily="34" charset="-120"/>
              </a:rPr>
              <a:t>1. Explain what caused the error in plain English</a:t>
            </a:r>
            <a:endParaRPr lang="en-US" sz="1100" dirty="0"/>
          </a:p>
          <a:p>
            <a:pPr marL="0" indent="0">
              <a:buNone/>
            </a:pPr>
            <a:r>
              <a:rPr lang="en-US" sz="1100" dirty="0">
                <a:solidFill>
                  <a:srgbClr val="1A202C"/>
                </a:solidFill>
                <a:latin typeface="Courier New" pitchFamily="34" charset="0"/>
                <a:ea typeface="Courier New" pitchFamily="34" charset="-122"/>
                <a:cs typeface="Courier New" pitchFamily="34" charset="-120"/>
              </a:rPr>
              <a:t>2. Show me the corrected code</a:t>
            </a:r>
            <a:endParaRPr lang="en-US" sz="1100" dirty="0"/>
          </a:p>
          <a:p>
            <a:pPr marL="0" indent="0">
              <a:buNone/>
            </a:pPr>
            <a:r>
              <a:rPr lang="en-US" sz="1100" dirty="0">
                <a:solidFill>
                  <a:srgbClr val="1A202C"/>
                </a:solidFill>
                <a:latin typeface="Courier New" pitchFamily="34" charset="0"/>
                <a:ea typeface="Courier New" pitchFamily="34" charset="-122"/>
                <a:cs typeface="Courier New" pitchFamily="34" charset="-120"/>
              </a:rPr>
              <a:t>3. Explain what you changed and why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1 — MODULE 1  •  SETUP</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Environment Setup</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VS Code + GitHub Copilot + Anaconda — Ready in 20 Minutes</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What's Already Installed on Your Machine</a:t>
            </a:r>
            <a:endParaRPr lang="en-US" sz="2000" dirty="0"/>
          </a:p>
        </p:txBody>
      </p:sp>
      <p:sp>
        <p:nvSpPr>
          <p:cNvPr id="4" name="Text 2"/>
          <p:cNvSpPr/>
          <p:nvPr/>
        </p:nvSpPr>
        <p:spPr>
          <a:xfrm>
            <a:off x="457200" y="822960"/>
            <a:ext cx="8138160" cy="3931920"/>
          </a:xfrm>
          <a:prstGeom prst="rect">
            <a:avLst/>
          </a:prstGeom>
          <a:noFill/>
          <a:ln/>
        </p:spPr>
        <p:txBody>
          <a:bodyPr wrap="square" rtlCol="0" anchor="ctr"/>
          <a:lstStyle/>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VS Code — your coding editor and automation IDE</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GitHub Copilot extension — already licensed and active</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Anaconda — Python environment with data science libraries included</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Key libraries available: pandas, openpyxl, xlsxwriter, pdfplumber, pyodbc, requests</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Microsoft Graph SDK — for Outlook and SharePoint automation</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Git — for saving and versioning your automation scripts</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Your Workshop Folder Structure — Set This Up Now</a:t>
            </a:r>
            <a:endParaRPr lang="en-US" sz="2000" dirty="0"/>
          </a:p>
        </p:txBody>
      </p:sp>
      <p:sp>
        <p:nvSpPr>
          <p:cNvPr id="4" name="Shape 2"/>
          <p:cNvSpPr/>
          <p:nvPr/>
        </p:nvSpPr>
        <p:spPr>
          <a:xfrm>
            <a:off x="274320" y="777240"/>
            <a:ext cx="8595360" cy="4023360"/>
          </a:xfrm>
          <a:prstGeom prst="roundRect">
            <a:avLst>
              <a:gd name="adj" fmla="val 2273"/>
            </a:avLst>
          </a:prstGeom>
          <a:solidFill>
            <a:srgbClr val="0F172A"/>
          </a:solidFill>
          <a:ln w="12700">
            <a:solidFill>
              <a:srgbClr val="334155"/>
            </a:solidFill>
            <a:prstDash val="solid"/>
          </a:ln>
        </p:spPr>
      </p:sp>
      <p:sp>
        <p:nvSpPr>
          <p:cNvPr id="5" name="Text 3"/>
          <p:cNvSpPr/>
          <p:nvPr/>
        </p:nvSpPr>
        <p:spPr>
          <a:xfrm>
            <a:off x="457200" y="914400"/>
            <a:ext cx="8229600" cy="3749040"/>
          </a:xfrm>
          <a:prstGeom prst="rect">
            <a:avLst/>
          </a:prstGeom>
          <a:noFill/>
          <a:ln/>
        </p:spPr>
        <p:txBody>
          <a:bodyPr wrap="square" rtlCol="0" anchor="ctr"/>
          <a:lstStyle/>
          <a:p>
            <a:pPr marL="0" indent="0">
              <a:buNone/>
            </a:pPr>
            <a:r>
              <a:rPr lang="en-US" sz="1200" dirty="0">
                <a:solidFill>
                  <a:srgbClr val="D0E8FF"/>
                </a:solidFill>
                <a:latin typeface="Courier New" pitchFamily="34" charset="0"/>
                <a:ea typeface="Courier New" pitchFamily="34" charset="-122"/>
                <a:cs typeface="Courier New" pitchFamily="34" charset="-120"/>
              </a:rPr>
              <a:t>C:\FundAutomation\</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data\</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 input\          ← raw Excel, PDF, SQL exports</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 processed\      ← files after automation</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 reference\      ← mapping files, fund master</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scripts\</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 day1\           ← Labs 1–7</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 day2\           ← Labs 8–15</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reports\</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 daily\</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 monthly\</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 exceptions\</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logs\               ← audit trail for every run</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config\</a:t>
            </a:r>
            <a:endParaRPr lang="en-US" sz="1200" dirty="0"/>
          </a:p>
          <a:p>
            <a:pPr marL="0" indent="0">
              <a:buNone/>
            </a:pPr>
            <a:r>
              <a:rPr lang="en-US" sz="1200" dirty="0">
                <a:solidFill>
                  <a:srgbClr val="D0E8FF"/>
                </a:solidFill>
                <a:latin typeface="Courier New" pitchFamily="34" charset="0"/>
                <a:ea typeface="Courier New" pitchFamily="34" charset="-122"/>
                <a:cs typeface="Courier New" pitchFamily="34" charset="-120"/>
              </a:rPr>
              <a:t>    └── settings.json   ← environment config (no hardcoded paths!)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1</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Generate Python from Natural Language</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Use GitHub Copilot to generate your first working automation script — no prior coding required</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Open VS Code, open terminal (Ctrl+`), type: cd C:\FundAutomation\scripts\day1</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Create new file: lab1_first_script.py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Open Copilot Chat (Ctrl+Shift+I)</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Paste Prompt Template 1 from your card, replacing [FOLDER_PATH] with your data\input folder</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Press Enter — watch Copilot generate the full script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Click 'Insert into file' to place the code in your editor</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Run it: press F5 or type python lab1_first_script.py in the terminal</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Observe the output — does it match your expectation?</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9.  If it errors: use Prompt Template 4 (Error Fixing) to debug with Copilot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1  •  LAB 2</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Excel Collection Agent</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Collect NAV data from 15 fund files into one master report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2</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Excel Collection Agent — Build It with Copilot</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Build a script that collects NAV data from 15 fund Excel files into one consolidated master report</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Open Copilot Chat, use Prompt Template 1 to generate the collection script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Modify the prompt: specify sheet='NAV Summary', cells B3 (date), B5 (NAV), C5 (currency)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Generate the script — review what Copilot wrote</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Ask Copilot in chat: 'Add a try/except block so the script continues if a file fails'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Ask Copilot: 'Add logging so I can see which files succeeded and which failed'</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Run the script against the sample data in data/input/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Open master_nav.xlsx — verify all 15 funds are present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Check collection_agent.log — can you trace exactly what happened?</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9.  BONUS: Ask Copilot to add a summary row (total NAV, count, date range)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1  •  LAB 3</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Dynamic Excel Discovery Agent</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Handle any fund administrator format — no hardcoded cell references</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Problem with Hardcoded Cell References</a:t>
            </a:r>
            <a:endParaRPr lang="en-US" sz="2000" dirty="0"/>
          </a:p>
        </p:txBody>
      </p:sp>
      <p:sp>
        <p:nvSpPr>
          <p:cNvPr id="4" name="Text 2"/>
          <p:cNvSpPr/>
          <p:nvPr/>
        </p:nvSpPr>
        <p:spPr>
          <a:xfrm>
            <a:off x="457200" y="822960"/>
            <a:ext cx="8138160" cy="3931920"/>
          </a:xfrm>
          <a:prstGeom prst="rect">
            <a:avLst/>
          </a:prstGeom>
          <a:noFill/>
          <a:ln/>
        </p:spPr>
        <p:txBody>
          <a:bodyPr wrap="square" rtlCol="0" anchor="ctr"/>
          <a:lstStyle/>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Fund Administrator A puts NAV in cell B5</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Fund Administrator B puts NAV in cell D8</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Fund Administrator C uses a different sheet name every month</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Fund Administrator D has the date in a merged cell</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Result: your script breaks every time a format changes</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The solution: teach your agent to DISCOVER the structure, not assume it</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Ask yourself: How would a new analyst find the NAV in an unfamiliar spreadsheet?</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They'd scan for keywords like 'Net Asset Value', 'NAV', 'Total Fund Value'</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Your automation agent can do exactly the same thing</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3</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Dynamic Excel Discovery Agent</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Build an agent that discovers sheet structure and extracts data without hardcoded cell references</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Create lab3_discovery_agent.py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Prompt Copilot: 'Write a function that opens an Excel file and scans all sheets looking for a cell containing the text NAV or Net Asset Value, then returns the value in the adjacent cell'</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Test it against FundAdmin_A.xlsx (standard format) — verify it finds NAV</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Test against FundAdmin_B.xlsx (different format) — does it still work?</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Prompt Copilot: 'Extend this to also discover: Valuation Date, Fund Name, Management Fee'</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Prompt Copilot: 'Add a confidence score — how certain are we that we found the right field?'</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Run against all 15 sample files — which ones succeed with dynamic discovery?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Generate a discovery_report.xlsx showing what was found and where</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9.  BONUS: Ask Copilot to generate a 'field map' for each fund administrator format</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1  •  LAB 4</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Outlook Automation via Microsoft Graph API</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Automatically download email attachments → validate → save to SharePoint</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Microsoft Graph API Architecture — How Outlook Automation Works</a:t>
            </a:r>
            <a:endParaRPr lang="en-US" sz="2000" dirty="0"/>
          </a:p>
        </p:txBody>
      </p:sp>
      <p:sp>
        <p:nvSpPr>
          <p:cNvPr id="4" name="Shape 2"/>
          <p:cNvSpPr/>
          <p:nvPr/>
        </p:nvSpPr>
        <p:spPr>
          <a:xfrm>
            <a:off x="228600" y="914400"/>
            <a:ext cx="1554480" cy="1005840"/>
          </a:xfrm>
          <a:prstGeom prst="roundRect">
            <a:avLst>
              <a:gd name="adj" fmla="val 7273"/>
            </a:avLst>
          </a:prstGeom>
          <a:solidFill>
            <a:srgbClr val="1A2E4A"/>
          </a:solidFill>
          <a:ln w="12700">
            <a:solidFill>
              <a:srgbClr val="1A2E4A"/>
            </a:solidFill>
            <a:prstDash val="solid"/>
          </a:ln>
          <a:effectLst>
            <a:outerShdw blurRad="101600" dist="38100" dir="2700000" algn="bl" rotWithShape="0">
              <a:srgbClr val="000000">
                <a:alpha val="12000"/>
              </a:srgbClr>
            </a:outerShdw>
          </a:effectLst>
        </p:spPr>
      </p:sp>
      <p:sp>
        <p:nvSpPr>
          <p:cNvPr id="5" name="Text 3"/>
          <p:cNvSpPr/>
          <p:nvPr/>
        </p:nvSpPr>
        <p:spPr>
          <a:xfrm>
            <a:off x="228600" y="1051560"/>
            <a:ext cx="1554480" cy="7315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Your Python</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Script</a:t>
            </a:r>
            <a:endParaRPr lang="en-US" sz="1200" dirty="0"/>
          </a:p>
        </p:txBody>
      </p:sp>
      <p:sp>
        <p:nvSpPr>
          <p:cNvPr id="6" name="Shape 4"/>
          <p:cNvSpPr/>
          <p:nvPr/>
        </p:nvSpPr>
        <p:spPr>
          <a:xfrm>
            <a:off x="1783080" y="1417320"/>
            <a:ext cx="256032" cy="0"/>
          </a:xfrm>
          <a:prstGeom prst="line">
            <a:avLst/>
          </a:prstGeom>
          <a:noFill/>
          <a:ln w="25400">
            <a:solidFill>
              <a:srgbClr val="F0A500"/>
            </a:solidFill>
            <a:prstDash val="solid"/>
          </a:ln>
        </p:spPr>
      </p:sp>
      <p:sp>
        <p:nvSpPr>
          <p:cNvPr id="7" name="Shape 5"/>
          <p:cNvSpPr/>
          <p:nvPr/>
        </p:nvSpPr>
        <p:spPr>
          <a:xfrm>
            <a:off x="2103120" y="914400"/>
            <a:ext cx="1554480" cy="1005840"/>
          </a:xfrm>
          <a:prstGeom prst="roundRect">
            <a:avLst>
              <a:gd name="adj" fmla="val 7273"/>
            </a:avLst>
          </a:prstGeom>
          <a:solidFill>
            <a:srgbClr val="6B46C1"/>
          </a:solidFill>
          <a:ln w="12700">
            <a:solidFill>
              <a:srgbClr val="6B46C1"/>
            </a:solidFill>
            <a:prstDash val="solid"/>
          </a:ln>
          <a:effectLst>
            <a:outerShdw blurRad="101600" dist="38100" dir="2700000" algn="bl" rotWithShape="0">
              <a:srgbClr val="000000">
                <a:alpha val="12000"/>
              </a:srgbClr>
            </a:outerShdw>
          </a:effectLst>
        </p:spPr>
      </p:sp>
      <p:sp>
        <p:nvSpPr>
          <p:cNvPr id="8" name="Text 6"/>
          <p:cNvSpPr/>
          <p:nvPr/>
        </p:nvSpPr>
        <p:spPr>
          <a:xfrm>
            <a:off x="2103120" y="1051560"/>
            <a:ext cx="1554480" cy="7315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Azure AD</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App Registration</a:t>
            </a:r>
            <a:endParaRPr lang="en-US" sz="1200" dirty="0"/>
          </a:p>
        </p:txBody>
      </p:sp>
      <p:sp>
        <p:nvSpPr>
          <p:cNvPr id="9" name="Shape 7"/>
          <p:cNvSpPr/>
          <p:nvPr/>
        </p:nvSpPr>
        <p:spPr>
          <a:xfrm>
            <a:off x="3657600" y="1417320"/>
            <a:ext cx="256032" cy="0"/>
          </a:xfrm>
          <a:prstGeom prst="line">
            <a:avLst/>
          </a:prstGeom>
          <a:noFill/>
          <a:ln w="25400">
            <a:solidFill>
              <a:srgbClr val="F0A500"/>
            </a:solidFill>
            <a:prstDash val="solid"/>
          </a:ln>
        </p:spPr>
      </p:sp>
      <p:sp>
        <p:nvSpPr>
          <p:cNvPr id="10" name="Shape 8"/>
          <p:cNvSpPr/>
          <p:nvPr/>
        </p:nvSpPr>
        <p:spPr>
          <a:xfrm>
            <a:off x="3977640" y="914400"/>
            <a:ext cx="1554480" cy="1005840"/>
          </a:xfrm>
          <a:prstGeom prst="roundRect">
            <a:avLst>
              <a:gd name="adj" fmla="val 7273"/>
            </a:avLst>
          </a:prstGeom>
          <a:solidFill>
            <a:srgbClr val="0D7C66"/>
          </a:solidFill>
          <a:ln w="12700">
            <a:solidFill>
              <a:srgbClr val="0D7C66"/>
            </a:solidFill>
            <a:prstDash val="solid"/>
          </a:ln>
          <a:effectLst>
            <a:outerShdw blurRad="101600" dist="38100" dir="2700000" algn="bl" rotWithShape="0">
              <a:srgbClr val="000000">
                <a:alpha val="12000"/>
              </a:srgbClr>
            </a:outerShdw>
          </a:effectLst>
        </p:spPr>
      </p:sp>
      <p:sp>
        <p:nvSpPr>
          <p:cNvPr id="11" name="Text 9"/>
          <p:cNvSpPr/>
          <p:nvPr/>
        </p:nvSpPr>
        <p:spPr>
          <a:xfrm>
            <a:off x="3977640" y="1051560"/>
            <a:ext cx="1554480" cy="7315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Microsoft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Graph API</a:t>
            </a:r>
            <a:endParaRPr lang="en-US" sz="1200" dirty="0"/>
          </a:p>
        </p:txBody>
      </p:sp>
      <p:sp>
        <p:nvSpPr>
          <p:cNvPr id="12" name="Shape 10"/>
          <p:cNvSpPr/>
          <p:nvPr/>
        </p:nvSpPr>
        <p:spPr>
          <a:xfrm>
            <a:off x="5532120" y="1417320"/>
            <a:ext cx="256032" cy="0"/>
          </a:xfrm>
          <a:prstGeom prst="line">
            <a:avLst/>
          </a:prstGeom>
          <a:noFill/>
          <a:ln w="25400">
            <a:solidFill>
              <a:srgbClr val="F0A500"/>
            </a:solidFill>
            <a:prstDash val="solid"/>
          </a:ln>
        </p:spPr>
      </p:sp>
      <p:sp>
        <p:nvSpPr>
          <p:cNvPr id="13" name="Shape 11"/>
          <p:cNvSpPr/>
          <p:nvPr/>
        </p:nvSpPr>
        <p:spPr>
          <a:xfrm>
            <a:off x="5852160" y="914400"/>
            <a:ext cx="1554480" cy="1005840"/>
          </a:xfrm>
          <a:prstGeom prst="roundRect">
            <a:avLst>
              <a:gd name="adj" fmla="val 7273"/>
            </a:avLst>
          </a:prstGeom>
          <a:solidFill>
            <a:srgbClr val="2980B9"/>
          </a:solidFill>
          <a:ln w="12700">
            <a:solidFill>
              <a:srgbClr val="2980B9"/>
            </a:solidFill>
            <a:prstDash val="solid"/>
          </a:ln>
          <a:effectLst>
            <a:outerShdw blurRad="101600" dist="38100" dir="2700000" algn="bl" rotWithShape="0">
              <a:srgbClr val="000000">
                <a:alpha val="12000"/>
              </a:srgbClr>
            </a:outerShdw>
          </a:effectLst>
        </p:spPr>
      </p:sp>
      <p:sp>
        <p:nvSpPr>
          <p:cNvPr id="14" name="Text 12"/>
          <p:cNvSpPr/>
          <p:nvPr/>
        </p:nvSpPr>
        <p:spPr>
          <a:xfrm>
            <a:off x="5852160" y="1051560"/>
            <a:ext cx="1554480" cy="7315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Outlook</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Mailbox</a:t>
            </a:r>
            <a:endParaRPr lang="en-US" sz="1200" dirty="0"/>
          </a:p>
        </p:txBody>
      </p:sp>
      <p:sp>
        <p:nvSpPr>
          <p:cNvPr id="15" name="Shape 13"/>
          <p:cNvSpPr/>
          <p:nvPr/>
        </p:nvSpPr>
        <p:spPr>
          <a:xfrm>
            <a:off x="7406640" y="1417320"/>
            <a:ext cx="256032" cy="0"/>
          </a:xfrm>
          <a:prstGeom prst="line">
            <a:avLst/>
          </a:prstGeom>
          <a:noFill/>
          <a:ln w="25400">
            <a:solidFill>
              <a:srgbClr val="F0A500"/>
            </a:solidFill>
            <a:prstDash val="solid"/>
          </a:ln>
        </p:spPr>
      </p:sp>
      <p:sp>
        <p:nvSpPr>
          <p:cNvPr id="16" name="Shape 14"/>
          <p:cNvSpPr/>
          <p:nvPr/>
        </p:nvSpPr>
        <p:spPr>
          <a:xfrm>
            <a:off x="7726680" y="914400"/>
            <a:ext cx="1188720" cy="1005840"/>
          </a:xfrm>
          <a:prstGeom prst="roundRect">
            <a:avLst>
              <a:gd name="adj" fmla="val 7273"/>
            </a:avLst>
          </a:prstGeom>
          <a:solidFill>
            <a:srgbClr val="27AE60"/>
          </a:solidFill>
          <a:ln w="12700">
            <a:solidFill>
              <a:srgbClr val="27AE60"/>
            </a:solidFill>
            <a:prstDash val="solid"/>
          </a:ln>
          <a:effectLst>
            <a:outerShdw blurRad="101600" dist="38100" dir="2700000" algn="bl" rotWithShape="0">
              <a:srgbClr val="000000">
                <a:alpha val="12000"/>
              </a:srgbClr>
            </a:outerShdw>
          </a:effectLst>
        </p:spPr>
      </p:sp>
      <p:sp>
        <p:nvSpPr>
          <p:cNvPr id="17" name="Text 15"/>
          <p:cNvSpPr/>
          <p:nvPr/>
        </p:nvSpPr>
        <p:spPr>
          <a:xfrm>
            <a:off x="7726680" y="1051560"/>
            <a:ext cx="1188720" cy="7315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SharePoint</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Folder</a:t>
            </a:r>
            <a:endParaRPr lang="en-US" sz="1200" dirty="0"/>
          </a:p>
        </p:txBody>
      </p:sp>
      <p:sp>
        <p:nvSpPr>
          <p:cNvPr id="18" name="Shape 16"/>
          <p:cNvSpPr/>
          <p:nvPr/>
        </p:nvSpPr>
        <p:spPr>
          <a:xfrm>
            <a:off x="274320" y="2240280"/>
            <a:ext cx="365760" cy="365760"/>
          </a:xfrm>
          <a:prstGeom prst="ellipse">
            <a:avLst/>
          </a:prstGeom>
          <a:solidFill>
            <a:srgbClr val="1A2E4A"/>
          </a:solidFill>
          <a:ln w="12700">
            <a:solidFill>
              <a:srgbClr val="1A2E4A"/>
            </a:solidFill>
            <a:prstDash val="solid"/>
          </a:ln>
        </p:spPr>
      </p:sp>
      <p:sp>
        <p:nvSpPr>
          <p:cNvPr id="19" name="Text 17"/>
          <p:cNvSpPr/>
          <p:nvPr/>
        </p:nvSpPr>
        <p:spPr>
          <a:xfrm>
            <a:off x="274320" y="2258568"/>
            <a:ext cx="365760"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Text 18"/>
          <p:cNvSpPr/>
          <p:nvPr/>
        </p:nvSpPr>
        <p:spPr>
          <a:xfrm>
            <a:off x="777240" y="2231136"/>
            <a:ext cx="8046720" cy="457200"/>
          </a:xfrm>
          <a:prstGeom prst="rect">
            <a:avLst/>
          </a:prstGeom>
          <a:noFill/>
          <a:ln/>
        </p:spPr>
        <p:txBody>
          <a:bodyPr wrap="square" rtlCol="0" anchor="ctr"/>
          <a:lstStyle/>
          <a:p>
            <a:pPr marL="0" indent="0">
              <a:buNone/>
            </a:pPr>
            <a:r>
              <a:rPr lang="en-US" sz="1250" dirty="0">
                <a:solidFill>
                  <a:srgbClr val="1A202C"/>
                </a:solidFill>
                <a:latin typeface="Calibri" pitchFamily="34" charset="0"/>
                <a:ea typeface="Calibri" pitchFamily="34" charset="-122"/>
                <a:cs typeface="Calibri" pitchFamily="34" charset="-120"/>
              </a:rPr>
              <a:t>App Registration: register your automation app in Azure AD (one-time setup)</a:t>
            </a:r>
            <a:endParaRPr lang="en-US" sz="1250" dirty="0"/>
          </a:p>
        </p:txBody>
      </p:sp>
      <p:sp>
        <p:nvSpPr>
          <p:cNvPr id="21" name="Shape 19"/>
          <p:cNvSpPr/>
          <p:nvPr/>
        </p:nvSpPr>
        <p:spPr>
          <a:xfrm>
            <a:off x="274320" y="2779776"/>
            <a:ext cx="365760" cy="365760"/>
          </a:xfrm>
          <a:prstGeom prst="ellipse">
            <a:avLst/>
          </a:prstGeom>
          <a:solidFill>
            <a:srgbClr val="6B46C1"/>
          </a:solidFill>
          <a:ln w="12700">
            <a:solidFill>
              <a:srgbClr val="6B46C1"/>
            </a:solidFill>
            <a:prstDash val="solid"/>
          </a:ln>
        </p:spPr>
      </p:sp>
      <p:sp>
        <p:nvSpPr>
          <p:cNvPr id="22" name="Text 20"/>
          <p:cNvSpPr/>
          <p:nvPr/>
        </p:nvSpPr>
        <p:spPr>
          <a:xfrm>
            <a:off x="274320" y="2798064"/>
            <a:ext cx="365760"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Text 21"/>
          <p:cNvSpPr/>
          <p:nvPr/>
        </p:nvSpPr>
        <p:spPr>
          <a:xfrm>
            <a:off x="777240" y="2770632"/>
            <a:ext cx="8046720" cy="457200"/>
          </a:xfrm>
          <a:prstGeom prst="rect">
            <a:avLst/>
          </a:prstGeom>
          <a:noFill/>
          <a:ln/>
        </p:spPr>
        <p:txBody>
          <a:bodyPr wrap="square" rtlCol="0" anchor="ctr"/>
          <a:lstStyle/>
          <a:p>
            <a:pPr marL="0" indent="0">
              <a:buNone/>
            </a:pPr>
            <a:r>
              <a:rPr lang="en-US" sz="1250" dirty="0">
                <a:solidFill>
                  <a:srgbClr val="1A202C"/>
                </a:solidFill>
                <a:latin typeface="Calibri" pitchFamily="34" charset="0"/>
                <a:ea typeface="Calibri" pitchFamily="34" charset="-122"/>
                <a:cs typeface="Calibri" pitchFamily="34" charset="-120"/>
              </a:rPr>
              <a:t>Authentication: app uses Client ID + Secret to get access token from Azure AD</a:t>
            </a:r>
            <a:endParaRPr lang="en-US" sz="1250" dirty="0"/>
          </a:p>
        </p:txBody>
      </p:sp>
      <p:sp>
        <p:nvSpPr>
          <p:cNvPr id="24" name="Shape 22"/>
          <p:cNvSpPr/>
          <p:nvPr/>
        </p:nvSpPr>
        <p:spPr>
          <a:xfrm>
            <a:off x="274320" y="3319272"/>
            <a:ext cx="365760" cy="365760"/>
          </a:xfrm>
          <a:prstGeom prst="ellipse">
            <a:avLst/>
          </a:prstGeom>
          <a:solidFill>
            <a:srgbClr val="0D7C66"/>
          </a:solidFill>
          <a:ln w="12700">
            <a:solidFill>
              <a:srgbClr val="0D7C66"/>
            </a:solidFill>
            <a:prstDash val="solid"/>
          </a:ln>
        </p:spPr>
      </p:sp>
      <p:sp>
        <p:nvSpPr>
          <p:cNvPr id="25" name="Text 23"/>
          <p:cNvSpPr/>
          <p:nvPr/>
        </p:nvSpPr>
        <p:spPr>
          <a:xfrm>
            <a:off x="274320" y="3337560"/>
            <a:ext cx="365760"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6" name="Text 24"/>
          <p:cNvSpPr/>
          <p:nvPr/>
        </p:nvSpPr>
        <p:spPr>
          <a:xfrm>
            <a:off x="777240" y="3310128"/>
            <a:ext cx="8046720" cy="457200"/>
          </a:xfrm>
          <a:prstGeom prst="rect">
            <a:avLst/>
          </a:prstGeom>
          <a:noFill/>
          <a:ln/>
        </p:spPr>
        <p:txBody>
          <a:bodyPr wrap="square" rtlCol="0" anchor="ctr"/>
          <a:lstStyle/>
          <a:p>
            <a:pPr marL="0" indent="0">
              <a:buNone/>
            </a:pPr>
            <a:r>
              <a:rPr lang="en-US" sz="1250" dirty="0">
                <a:solidFill>
                  <a:srgbClr val="1A202C"/>
                </a:solidFill>
                <a:latin typeface="Calibri" pitchFamily="34" charset="0"/>
                <a:ea typeface="Calibri" pitchFamily="34" charset="-122"/>
                <a:cs typeface="Calibri" pitchFamily="34" charset="-120"/>
              </a:rPr>
              <a:t>API Call: script calls Graph endpoint /me/messages to list emails</a:t>
            </a:r>
            <a:endParaRPr lang="en-US" sz="1250" dirty="0"/>
          </a:p>
        </p:txBody>
      </p:sp>
      <p:sp>
        <p:nvSpPr>
          <p:cNvPr id="27" name="Shape 25"/>
          <p:cNvSpPr/>
          <p:nvPr/>
        </p:nvSpPr>
        <p:spPr>
          <a:xfrm>
            <a:off x="274320" y="3858768"/>
            <a:ext cx="365760" cy="365760"/>
          </a:xfrm>
          <a:prstGeom prst="ellipse">
            <a:avLst/>
          </a:prstGeom>
          <a:solidFill>
            <a:srgbClr val="2980B9"/>
          </a:solidFill>
          <a:ln w="12700">
            <a:solidFill>
              <a:srgbClr val="2980B9"/>
            </a:solidFill>
            <a:prstDash val="solid"/>
          </a:ln>
        </p:spPr>
      </p:sp>
      <p:sp>
        <p:nvSpPr>
          <p:cNvPr id="28" name="Text 26"/>
          <p:cNvSpPr/>
          <p:nvPr/>
        </p:nvSpPr>
        <p:spPr>
          <a:xfrm>
            <a:off x="274320" y="3877056"/>
            <a:ext cx="365760"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9" name="Text 27"/>
          <p:cNvSpPr/>
          <p:nvPr/>
        </p:nvSpPr>
        <p:spPr>
          <a:xfrm>
            <a:off x="777240" y="3849624"/>
            <a:ext cx="8046720" cy="457200"/>
          </a:xfrm>
          <a:prstGeom prst="rect">
            <a:avLst/>
          </a:prstGeom>
          <a:noFill/>
          <a:ln/>
        </p:spPr>
        <p:txBody>
          <a:bodyPr wrap="square" rtlCol="0" anchor="ctr"/>
          <a:lstStyle/>
          <a:p>
            <a:pPr marL="0" indent="0">
              <a:buNone/>
            </a:pPr>
            <a:r>
              <a:rPr lang="en-US" sz="1250" dirty="0">
                <a:solidFill>
                  <a:srgbClr val="1A202C"/>
                </a:solidFill>
                <a:latin typeface="Calibri" pitchFamily="34" charset="0"/>
                <a:ea typeface="Calibri" pitchFamily="34" charset="-122"/>
                <a:cs typeface="Calibri" pitchFamily="34" charset="-120"/>
              </a:rPr>
              <a:t>Download: script fetches attachment content via /messages/{id}/attachments</a:t>
            </a:r>
            <a:endParaRPr lang="en-US" sz="1250" dirty="0"/>
          </a:p>
        </p:txBody>
      </p:sp>
      <p:sp>
        <p:nvSpPr>
          <p:cNvPr id="30" name="Shape 28"/>
          <p:cNvSpPr/>
          <p:nvPr/>
        </p:nvSpPr>
        <p:spPr>
          <a:xfrm>
            <a:off x="274320" y="4398264"/>
            <a:ext cx="365760" cy="365760"/>
          </a:xfrm>
          <a:prstGeom prst="ellipse">
            <a:avLst/>
          </a:prstGeom>
          <a:solidFill>
            <a:srgbClr val="27AE60"/>
          </a:solidFill>
          <a:ln w="12700">
            <a:solidFill>
              <a:srgbClr val="27AE60"/>
            </a:solidFill>
            <a:prstDash val="solid"/>
          </a:ln>
        </p:spPr>
      </p:sp>
      <p:sp>
        <p:nvSpPr>
          <p:cNvPr id="31" name="Text 29"/>
          <p:cNvSpPr/>
          <p:nvPr/>
        </p:nvSpPr>
        <p:spPr>
          <a:xfrm>
            <a:off x="274320" y="4416552"/>
            <a:ext cx="365760" cy="32918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2" name="Text 30"/>
          <p:cNvSpPr/>
          <p:nvPr/>
        </p:nvSpPr>
        <p:spPr>
          <a:xfrm>
            <a:off x="777240" y="4389120"/>
            <a:ext cx="8046720" cy="457200"/>
          </a:xfrm>
          <a:prstGeom prst="rect">
            <a:avLst/>
          </a:prstGeom>
          <a:noFill/>
          <a:ln/>
        </p:spPr>
        <p:txBody>
          <a:bodyPr wrap="square" rtlCol="0" anchor="ctr"/>
          <a:lstStyle/>
          <a:p>
            <a:pPr marL="0" indent="0">
              <a:buNone/>
            </a:pPr>
            <a:r>
              <a:rPr lang="en-US" sz="1250" dirty="0">
                <a:solidFill>
                  <a:srgbClr val="1A202C"/>
                </a:solidFill>
                <a:latin typeface="Calibri" pitchFamily="34" charset="0"/>
                <a:ea typeface="Calibri" pitchFamily="34" charset="-122"/>
                <a:cs typeface="Calibri" pitchFamily="34" charset="-120"/>
              </a:rPr>
              <a:t>Upload: validated file is uploaded to SharePoint via /sites/{id}/drive/items</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Azure AD App Registration — Step-by-Step (One-Time Setup)</a:t>
            </a:r>
            <a:endParaRPr lang="en-US" sz="2000" dirty="0"/>
          </a:p>
        </p:txBody>
      </p:sp>
      <p:sp>
        <p:nvSpPr>
          <p:cNvPr id="4" name="Shape 2"/>
          <p:cNvSpPr/>
          <p:nvPr/>
        </p:nvSpPr>
        <p:spPr>
          <a:xfrm>
            <a:off x="274320" y="804672"/>
            <a:ext cx="4206240" cy="1298448"/>
          </a:xfrm>
          <a:prstGeom prst="roundRect">
            <a:avLst>
              <a:gd name="adj" fmla="val 5634"/>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5" name="Shape 3"/>
          <p:cNvSpPr/>
          <p:nvPr/>
        </p:nvSpPr>
        <p:spPr>
          <a:xfrm>
            <a:off x="384048" y="1005840"/>
            <a:ext cx="411480" cy="411480"/>
          </a:xfrm>
          <a:prstGeom prst="ellipse">
            <a:avLst/>
          </a:prstGeom>
          <a:solidFill>
            <a:srgbClr val="0D7C66"/>
          </a:solidFill>
          <a:ln w="12700">
            <a:solidFill>
              <a:srgbClr val="0D7C66"/>
            </a:solidFill>
            <a:prstDash val="solid"/>
          </a:ln>
        </p:spPr>
      </p:sp>
      <p:sp>
        <p:nvSpPr>
          <p:cNvPr id="6" name="Text 4"/>
          <p:cNvSpPr/>
          <p:nvPr/>
        </p:nvSpPr>
        <p:spPr>
          <a:xfrm>
            <a:off x="384048" y="1042416"/>
            <a:ext cx="41148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896112" y="877824"/>
            <a:ext cx="3474720" cy="347472"/>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Open Azure Portal</a:t>
            </a:r>
            <a:endParaRPr lang="en-US" sz="1300" dirty="0"/>
          </a:p>
        </p:txBody>
      </p:sp>
      <p:sp>
        <p:nvSpPr>
          <p:cNvPr id="8" name="Text 6"/>
          <p:cNvSpPr/>
          <p:nvPr/>
        </p:nvSpPr>
        <p:spPr>
          <a:xfrm>
            <a:off x="896112" y="1261872"/>
            <a:ext cx="3474720" cy="74980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Go to portal.azure.com → Sign in with your work account → Search 'App registrations'</a:t>
            </a:r>
            <a:endParaRPr lang="en-US" sz="1100" dirty="0"/>
          </a:p>
        </p:txBody>
      </p:sp>
      <p:sp>
        <p:nvSpPr>
          <p:cNvPr id="9" name="Shape 7"/>
          <p:cNvSpPr/>
          <p:nvPr/>
        </p:nvSpPr>
        <p:spPr>
          <a:xfrm>
            <a:off x="274320" y="2221992"/>
            <a:ext cx="4206240" cy="1298448"/>
          </a:xfrm>
          <a:prstGeom prst="roundRect">
            <a:avLst>
              <a:gd name="adj" fmla="val 5634"/>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0" name="Shape 8"/>
          <p:cNvSpPr/>
          <p:nvPr/>
        </p:nvSpPr>
        <p:spPr>
          <a:xfrm>
            <a:off x="384048" y="2423160"/>
            <a:ext cx="411480" cy="411480"/>
          </a:xfrm>
          <a:prstGeom prst="ellipse">
            <a:avLst/>
          </a:prstGeom>
          <a:solidFill>
            <a:srgbClr val="0D7C66"/>
          </a:solidFill>
          <a:ln w="12700">
            <a:solidFill>
              <a:srgbClr val="0D7C66"/>
            </a:solidFill>
            <a:prstDash val="solid"/>
          </a:ln>
        </p:spPr>
      </p:sp>
      <p:sp>
        <p:nvSpPr>
          <p:cNvPr id="11" name="Text 9"/>
          <p:cNvSpPr/>
          <p:nvPr/>
        </p:nvSpPr>
        <p:spPr>
          <a:xfrm>
            <a:off x="384048" y="2459736"/>
            <a:ext cx="41148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896112" y="2295144"/>
            <a:ext cx="3474720" cy="347472"/>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New Registration</a:t>
            </a:r>
            <a:endParaRPr lang="en-US" sz="1300" dirty="0"/>
          </a:p>
        </p:txBody>
      </p:sp>
      <p:sp>
        <p:nvSpPr>
          <p:cNvPr id="13" name="Text 11"/>
          <p:cNvSpPr/>
          <p:nvPr/>
        </p:nvSpPr>
        <p:spPr>
          <a:xfrm>
            <a:off x="896112" y="2679192"/>
            <a:ext cx="3474720" cy="74980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Click '+ New registration' → Name: 'FundOps Automation' → Account type: Single tenant → Register</a:t>
            </a:r>
            <a:endParaRPr lang="en-US" sz="1100" dirty="0"/>
          </a:p>
        </p:txBody>
      </p:sp>
      <p:sp>
        <p:nvSpPr>
          <p:cNvPr id="14" name="Shape 12"/>
          <p:cNvSpPr/>
          <p:nvPr/>
        </p:nvSpPr>
        <p:spPr>
          <a:xfrm>
            <a:off x="274320" y="3639312"/>
            <a:ext cx="4206240" cy="1298448"/>
          </a:xfrm>
          <a:prstGeom prst="roundRect">
            <a:avLst>
              <a:gd name="adj" fmla="val 5634"/>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5" name="Shape 13"/>
          <p:cNvSpPr/>
          <p:nvPr/>
        </p:nvSpPr>
        <p:spPr>
          <a:xfrm>
            <a:off x="384048" y="3840480"/>
            <a:ext cx="411480" cy="411480"/>
          </a:xfrm>
          <a:prstGeom prst="ellipse">
            <a:avLst/>
          </a:prstGeom>
          <a:solidFill>
            <a:srgbClr val="0D7C66"/>
          </a:solidFill>
          <a:ln w="12700">
            <a:solidFill>
              <a:srgbClr val="0D7C66"/>
            </a:solidFill>
            <a:prstDash val="solid"/>
          </a:ln>
        </p:spPr>
      </p:sp>
      <p:sp>
        <p:nvSpPr>
          <p:cNvPr id="16" name="Text 14"/>
          <p:cNvSpPr/>
          <p:nvPr/>
        </p:nvSpPr>
        <p:spPr>
          <a:xfrm>
            <a:off x="384048" y="3877056"/>
            <a:ext cx="41148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896112" y="3712464"/>
            <a:ext cx="3474720" cy="347472"/>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Note Your IDs</a:t>
            </a:r>
            <a:endParaRPr lang="en-US" sz="1300" dirty="0"/>
          </a:p>
        </p:txBody>
      </p:sp>
      <p:sp>
        <p:nvSpPr>
          <p:cNvPr id="18" name="Text 16"/>
          <p:cNvSpPr/>
          <p:nvPr/>
        </p:nvSpPr>
        <p:spPr>
          <a:xfrm>
            <a:off x="896112" y="4096512"/>
            <a:ext cx="3474720" cy="74980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Copy and save: Application (client) ID, Directory (tenant) ID → These go in your config/settings.json</a:t>
            </a:r>
            <a:endParaRPr lang="en-US" sz="1100" dirty="0"/>
          </a:p>
        </p:txBody>
      </p:sp>
      <p:sp>
        <p:nvSpPr>
          <p:cNvPr id="19" name="Shape 17"/>
          <p:cNvSpPr/>
          <p:nvPr/>
        </p:nvSpPr>
        <p:spPr>
          <a:xfrm>
            <a:off x="4754880" y="804672"/>
            <a:ext cx="4206240" cy="1298448"/>
          </a:xfrm>
          <a:prstGeom prst="roundRect">
            <a:avLst>
              <a:gd name="adj" fmla="val 5634"/>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20" name="Shape 18"/>
          <p:cNvSpPr/>
          <p:nvPr/>
        </p:nvSpPr>
        <p:spPr>
          <a:xfrm>
            <a:off x="4864608" y="1005840"/>
            <a:ext cx="411480" cy="411480"/>
          </a:xfrm>
          <a:prstGeom prst="ellipse">
            <a:avLst/>
          </a:prstGeom>
          <a:solidFill>
            <a:srgbClr val="0D7C66"/>
          </a:solidFill>
          <a:ln w="12700">
            <a:solidFill>
              <a:srgbClr val="0D7C66"/>
            </a:solidFill>
            <a:prstDash val="solid"/>
          </a:ln>
        </p:spPr>
      </p:sp>
      <p:sp>
        <p:nvSpPr>
          <p:cNvPr id="21" name="Text 19"/>
          <p:cNvSpPr/>
          <p:nvPr/>
        </p:nvSpPr>
        <p:spPr>
          <a:xfrm>
            <a:off x="4864608" y="1042416"/>
            <a:ext cx="41148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p:nvPr/>
        </p:nvSpPr>
        <p:spPr>
          <a:xfrm>
            <a:off x="5376672" y="877824"/>
            <a:ext cx="3474720" cy="347472"/>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Create Client Secret</a:t>
            </a:r>
            <a:endParaRPr lang="en-US" sz="1300" dirty="0"/>
          </a:p>
        </p:txBody>
      </p:sp>
      <p:sp>
        <p:nvSpPr>
          <p:cNvPr id="23" name="Text 21"/>
          <p:cNvSpPr/>
          <p:nvPr/>
        </p:nvSpPr>
        <p:spPr>
          <a:xfrm>
            <a:off x="5376672" y="1261872"/>
            <a:ext cx="3474720" cy="74980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Certificates &amp; secrets → + New client secret → Description: 'Workshop' → Expires: 12 months → COPY the value immediately (shown only once!)</a:t>
            </a:r>
            <a:endParaRPr lang="en-US" sz="1100" dirty="0"/>
          </a:p>
        </p:txBody>
      </p:sp>
      <p:sp>
        <p:nvSpPr>
          <p:cNvPr id="24" name="Shape 22"/>
          <p:cNvSpPr/>
          <p:nvPr/>
        </p:nvSpPr>
        <p:spPr>
          <a:xfrm>
            <a:off x="4754880" y="2221992"/>
            <a:ext cx="4206240" cy="1298448"/>
          </a:xfrm>
          <a:prstGeom prst="roundRect">
            <a:avLst>
              <a:gd name="adj" fmla="val 5634"/>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25" name="Shape 23"/>
          <p:cNvSpPr/>
          <p:nvPr/>
        </p:nvSpPr>
        <p:spPr>
          <a:xfrm>
            <a:off x="4864608" y="2423160"/>
            <a:ext cx="411480" cy="411480"/>
          </a:xfrm>
          <a:prstGeom prst="ellipse">
            <a:avLst/>
          </a:prstGeom>
          <a:solidFill>
            <a:srgbClr val="0D7C66"/>
          </a:solidFill>
          <a:ln w="12700">
            <a:solidFill>
              <a:srgbClr val="0D7C66"/>
            </a:solidFill>
            <a:prstDash val="solid"/>
          </a:ln>
        </p:spPr>
      </p:sp>
      <p:sp>
        <p:nvSpPr>
          <p:cNvPr id="26" name="Text 24"/>
          <p:cNvSpPr/>
          <p:nvPr/>
        </p:nvSpPr>
        <p:spPr>
          <a:xfrm>
            <a:off x="4864608" y="2459736"/>
            <a:ext cx="41148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7" name="Text 25"/>
          <p:cNvSpPr/>
          <p:nvPr/>
        </p:nvSpPr>
        <p:spPr>
          <a:xfrm>
            <a:off x="5376672" y="2295144"/>
            <a:ext cx="3474720" cy="347472"/>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Grant API Permissions</a:t>
            </a:r>
            <a:endParaRPr lang="en-US" sz="1300" dirty="0"/>
          </a:p>
        </p:txBody>
      </p:sp>
      <p:sp>
        <p:nvSpPr>
          <p:cNvPr id="28" name="Text 26"/>
          <p:cNvSpPr/>
          <p:nvPr/>
        </p:nvSpPr>
        <p:spPr>
          <a:xfrm>
            <a:off x="5376672" y="2679192"/>
            <a:ext cx="3474720" cy="74980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API permissions → + Add → Microsoft Graph → Application permissions → Add: Mail.Read, Mail.ReadWrite, Sites.Read.All, Files.ReadWrite.All</a:t>
            </a:r>
            <a:endParaRPr lang="en-US" sz="1100" dirty="0"/>
          </a:p>
        </p:txBody>
      </p:sp>
      <p:sp>
        <p:nvSpPr>
          <p:cNvPr id="29" name="Shape 27"/>
          <p:cNvSpPr/>
          <p:nvPr/>
        </p:nvSpPr>
        <p:spPr>
          <a:xfrm>
            <a:off x="4754880" y="3639312"/>
            <a:ext cx="4206240" cy="1298448"/>
          </a:xfrm>
          <a:prstGeom prst="roundRect">
            <a:avLst>
              <a:gd name="adj" fmla="val 5634"/>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30" name="Shape 28"/>
          <p:cNvSpPr/>
          <p:nvPr/>
        </p:nvSpPr>
        <p:spPr>
          <a:xfrm>
            <a:off x="4864608" y="3840480"/>
            <a:ext cx="411480" cy="411480"/>
          </a:xfrm>
          <a:prstGeom prst="ellipse">
            <a:avLst/>
          </a:prstGeom>
          <a:solidFill>
            <a:srgbClr val="0D7C66"/>
          </a:solidFill>
          <a:ln w="12700">
            <a:solidFill>
              <a:srgbClr val="0D7C66"/>
            </a:solidFill>
            <a:prstDash val="solid"/>
          </a:ln>
        </p:spPr>
      </p:sp>
      <p:sp>
        <p:nvSpPr>
          <p:cNvPr id="31" name="Text 29"/>
          <p:cNvSpPr/>
          <p:nvPr/>
        </p:nvSpPr>
        <p:spPr>
          <a:xfrm>
            <a:off x="4864608" y="3877056"/>
            <a:ext cx="41148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2" name="Text 30"/>
          <p:cNvSpPr/>
          <p:nvPr/>
        </p:nvSpPr>
        <p:spPr>
          <a:xfrm>
            <a:off x="5376672" y="3712464"/>
            <a:ext cx="3474720" cy="347472"/>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Admin Consent</a:t>
            </a:r>
            <a:endParaRPr lang="en-US" sz="1300" dirty="0"/>
          </a:p>
        </p:txBody>
      </p:sp>
      <p:sp>
        <p:nvSpPr>
          <p:cNvPr id="33" name="Text 31"/>
          <p:cNvSpPr/>
          <p:nvPr/>
        </p:nvSpPr>
        <p:spPr>
          <a:xfrm>
            <a:off x="5376672" y="4096512"/>
            <a:ext cx="3474720" cy="749808"/>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Click 'Grant admin consent for [Tenant]' → Status turns green → Your app can now access Graph API</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4</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Outlook Automation via Microsoft Graph API</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Build an email monitoring script that downloads fund data attachments automatically</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Create config/settings.json with your Tenant ID, Client ID, Client Secret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Create lab4_outlook_agent.py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Prompt Copilot: 'Write a Python script using Microsoft Graph API to monitor a mailbox for emails from fund administrators, download Excel and PDF attachments'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Test authentication: run the get_access_token() function, print the token (first 20 chars)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Test email reading: list the 5 most recent emails with attachments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Download one attachment to data/input/ folder</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Add validation: only accept .xlsx and .pdf files (reject others)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Add an audit log entry: sender, subject, filename, size, timestamp</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9.  BONUS: Ask Copilot to move processed emails to a 'Processed' folder in Outlook</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1  •  LABS 5–7</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Productionising Code, Logging &amp; Audit, Duplicate Detection</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Making automation reliable enough for a regulated environment</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5</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Productionising Generated Code</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Transform a working script into production-grade code that can run unattended every day</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Open your Lab 2 collection script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Prompt Copilot: 'Refactor this script to read all file paths and settings from config/settings.json instead of hardcoded values'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Prompt Copilot: 'Add a command-line argument parser so I can pass --date and --fund-folder as arguments'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Prompt Copilot: 'Add email notification on completion or failure using smtplib'</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Prompt Copilot: 'Wrap the entire script in a try/except and write any unhandled exception to a crash.log file with full traceback'</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Create a run.bat file that activates the conda environment and runs the script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Schedule with Windows Task Scheduler to run at 8:00 AM daily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Test: rename a sample file to simulate an error — does the script recover gracefully?</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6</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Logging and Audit Framework</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Build a reusable audit logging system that tracks every action for regulatory compliance</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Create scripts/day1/audit_framework.py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Prompt Copilot: 'Build a Python audit logging class for fund operations. It should log: timestamp, user, script_name, action, input_file, output_file, record_count, status (success/fail), error_message'</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Ask Copilot: 'Save audit logs to both a local CSV and to a logs/ folder with daily rotation'</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Import the audit framework into your Lab 2 script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Add an audit entry at: script start, each file processed, each error, script end with summary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Open logs/ folder and review the audit trail</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Prompt Copilot: 'Generate a daily audit summary report from the log CSV files'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BONUS: Ask Copilot to add a Teams webhook notification on completion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7</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Duplicate Detection Framework</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Prevent processing the same file twice — critical for reconciliation accuracy</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Create scripts/day1/duplicate_detector.py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Prompt Copilot: 'Write a Python class that tracks processed files using a JSON registry. It should store filename, file hash (MD5), file size, processed_date, and status'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Ask Copilot: 'Add a method that checks if a file has already been processed by comparing its MD5 hash'</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Ask Copilot: 'If the same filename arrives with different content, flag it as MODIFIED and alert'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Integrate into Lab 2: before processing each file, check the duplicate registry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Test: process the same file twice — confirm it is skipped the second time</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Test: modify a file (change one NAV value) and reprocess — confirm it is flagged as MODIFIED</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Review the registry JSON file — can you see the complete processing history?</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4389120"/>
            <a:ext cx="9144000" cy="754380"/>
          </a:xfrm>
          <a:prstGeom prst="rect">
            <a:avLst/>
          </a:prstGeom>
          <a:solidFill>
            <a:srgbClr val="0D7C66"/>
          </a:solidFill>
          <a:ln w="12700">
            <a:solidFill>
              <a:srgbClr val="0D7C66"/>
            </a:solidFill>
            <a:prstDash val="solid"/>
          </a:ln>
        </p:spPr>
      </p:sp>
      <p:sp>
        <p:nvSpPr>
          <p:cNvPr id="3" name="Text 1"/>
          <p:cNvSpPr/>
          <p:nvPr/>
        </p:nvSpPr>
        <p:spPr>
          <a:xfrm>
            <a:off x="405685" y="-146819"/>
            <a:ext cx="8229600" cy="146304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Day 1 Complete</a:t>
            </a:r>
            <a:endParaRPr lang="en-US" sz="4000" dirty="0"/>
          </a:p>
        </p:txBody>
      </p:sp>
      <p:sp>
        <p:nvSpPr>
          <p:cNvPr id="4" name="Text 2"/>
          <p:cNvSpPr/>
          <p:nvPr/>
        </p:nvSpPr>
        <p:spPr>
          <a:xfrm>
            <a:off x="0" y="1396070"/>
            <a:ext cx="7680960" cy="640080"/>
          </a:xfrm>
          <a:prstGeom prst="rect">
            <a:avLst/>
          </a:prstGeom>
          <a:noFill/>
          <a:ln/>
        </p:spPr>
        <p:txBody>
          <a:bodyPr wrap="square" rtlCol="0" anchor="ctr"/>
          <a:lstStyle/>
          <a:p>
            <a:pPr marL="0" indent="0" algn="ctr">
              <a:buNone/>
            </a:pPr>
            <a:r>
              <a:rPr lang="en-US" sz="1800" dirty="0">
                <a:solidFill>
                  <a:srgbClr val="A0C4FF"/>
                </a:solidFill>
                <a:latin typeface="Calibri" pitchFamily="34" charset="0"/>
                <a:ea typeface="Calibri" pitchFamily="34" charset="-122"/>
                <a:cs typeface="Calibri" pitchFamily="34" charset="-120"/>
              </a:rPr>
              <a:t>What you built today</a:t>
            </a:r>
            <a:endParaRPr lang="en-US" sz="1800" dirty="0"/>
          </a:p>
        </p:txBody>
      </p:sp>
      <p:sp>
        <p:nvSpPr>
          <p:cNvPr id="5" name="Text 3"/>
          <p:cNvSpPr/>
          <p:nvPr/>
        </p:nvSpPr>
        <p:spPr>
          <a:xfrm>
            <a:off x="405685" y="1990429"/>
            <a:ext cx="7315200" cy="2193272"/>
          </a:xfrm>
          <a:prstGeom prst="rect">
            <a:avLst/>
          </a:prstGeom>
          <a:noFill/>
          <a:ln/>
        </p:spPr>
        <p:txBody>
          <a:bodyPr wrap="square" rtlCol="0" anchor="ctr"/>
          <a:lstStyle/>
          <a:p>
            <a:pPr marL="0" indent="0">
              <a:spcAft>
                <a:spcPts val="500"/>
              </a:spcAft>
              <a:buNone/>
            </a:pPr>
            <a:r>
              <a:rPr lang="en-US" sz="1400" dirty="0">
                <a:solidFill>
                  <a:srgbClr val="A0E8D0"/>
                </a:solidFill>
                <a:latin typeface="Calibri" pitchFamily="34" charset="0"/>
                <a:ea typeface="Calibri" pitchFamily="34" charset="-122"/>
                <a:cs typeface="Calibri" pitchFamily="34" charset="-120"/>
              </a:rPr>
              <a:t>✓  Lab 1: Generated your first Python automation from plain English</a:t>
            </a:r>
            <a:endParaRPr lang="en-US" sz="1400" dirty="0"/>
          </a:p>
          <a:p>
            <a:pPr marL="0" indent="0">
              <a:spcAft>
                <a:spcPts val="500"/>
              </a:spcAft>
              <a:buNone/>
            </a:pPr>
            <a:r>
              <a:rPr lang="en-US" sz="1400" dirty="0">
                <a:solidFill>
                  <a:srgbClr val="FFFFFF"/>
                </a:solidFill>
                <a:latin typeface="Calibri" pitchFamily="34" charset="0"/>
                <a:ea typeface="Calibri" pitchFamily="34" charset="-122"/>
                <a:cs typeface="Calibri" pitchFamily="34" charset="-120"/>
              </a:rPr>
              <a:t>✓  Lab 2: Excel Collection Agent (15 funds → 1 master report)</a:t>
            </a:r>
            <a:endParaRPr lang="en-US" sz="1400" dirty="0"/>
          </a:p>
          <a:p>
            <a:pPr marL="0" indent="0">
              <a:spcAft>
                <a:spcPts val="500"/>
              </a:spcAft>
              <a:buNone/>
            </a:pPr>
            <a:r>
              <a:rPr lang="en-US" sz="1400" dirty="0">
                <a:solidFill>
                  <a:srgbClr val="A0E8D0"/>
                </a:solidFill>
                <a:latin typeface="Calibri" pitchFamily="34" charset="0"/>
                <a:ea typeface="Calibri" pitchFamily="34" charset="-122"/>
                <a:cs typeface="Calibri" pitchFamily="34" charset="-120"/>
              </a:rPr>
              <a:t>✓  Lab 3: Dynamic Discovery Agent (handles any fund admin format)</a:t>
            </a:r>
            <a:endParaRPr lang="en-US" sz="1400" dirty="0"/>
          </a:p>
          <a:p>
            <a:pPr marL="0" indent="0">
              <a:spcAft>
                <a:spcPts val="500"/>
              </a:spcAft>
              <a:buNone/>
            </a:pPr>
            <a:r>
              <a:rPr lang="en-US" sz="1400" dirty="0">
                <a:solidFill>
                  <a:srgbClr val="FFFFFF"/>
                </a:solidFill>
                <a:latin typeface="Calibri" pitchFamily="34" charset="0"/>
                <a:ea typeface="Calibri" pitchFamily="34" charset="-122"/>
                <a:cs typeface="Calibri" pitchFamily="34" charset="-120"/>
              </a:rPr>
              <a:t>✓  Lab 4: Outlook Email Agent </a:t>
            </a:r>
            <a:r>
              <a:rPr lang="en-US" sz="1400" dirty="0" smtClean="0">
                <a:solidFill>
                  <a:srgbClr val="FFFFFF"/>
                </a:solidFill>
                <a:latin typeface="Calibri" pitchFamily="34" charset="0"/>
                <a:ea typeface="Calibri" pitchFamily="34" charset="-122"/>
                <a:cs typeface="Calibri" pitchFamily="34" charset="-120"/>
              </a:rPr>
              <a:t>(auto-downloads attachments via Graph </a:t>
            </a:r>
            <a:r>
              <a:rPr lang="en-US" sz="1400" dirty="0">
                <a:solidFill>
                  <a:srgbClr val="FFFFFF"/>
                </a:solidFill>
                <a:latin typeface="Calibri" pitchFamily="34" charset="0"/>
                <a:ea typeface="Calibri" pitchFamily="34" charset="-122"/>
                <a:cs typeface="Calibri" pitchFamily="34" charset="-120"/>
              </a:rPr>
              <a:t>API)</a:t>
            </a:r>
            <a:endParaRPr lang="en-US" sz="1400" dirty="0"/>
          </a:p>
          <a:p>
            <a:pPr marL="0" indent="0">
              <a:spcAft>
                <a:spcPts val="500"/>
              </a:spcAft>
              <a:buNone/>
            </a:pPr>
            <a:r>
              <a:rPr lang="en-US" sz="1400" dirty="0">
                <a:solidFill>
                  <a:srgbClr val="A0E8D0"/>
                </a:solidFill>
                <a:latin typeface="Calibri" pitchFamily="34" charset="0"/>
                <a:ea typeface="Calibri" pitchFamily="34" charset="-122"/>
                <a:cs typeface="Calibri" pitchFamily="34" charset="-120"/>
              </a:rPr>
              <a:t>✓  Lab 5: Production-grade code (config-driven, schedulable)</a:t>
            </a:r>
            <a:endParaRPr lang="en-US" sz="1400" dirty="0"/>
          </a:p>
          <a:p>
            <a:pPr marL="0" indent="0">
              <a:spcAft>
                <a:spcPts val="500"/>
              </a:spcAft>
              <a:buNone/>
            </a:pPr>
            <a:r>
              <a:rPr lang="en-US" sz="1400" dirty="0">
                <a:solidFill>
                  <a:srgbClr val="FFFFFF"/>
                </a:solidFill>
                <a:latin typeface="Calibri" pitchFamily="34" charset="0"/>
                <a:ea typeface="Calibri" pitchFamily="34" charset="-122"/>
                <a:cs typeface="Calibri" pitchFamily="34" charset="-120"/>
              </a:rPr>
              <a:t>✓  Lab 6: Audit &amp; Logging Framework (regulatory-grade trail)</a:t>
            </a:r>
            <a:endParaRPr lang="en-US" sz="1400" dirty="0"/>
          </a:p>
          <a:p>
            <a:pPr marL="0" indent="0">
              <a:spcAft>
                <a:spcPts val="500"/>
              </a:spcAft>
              <a:buNone/>
            </a:pPr>
            <a:r>
              <a:rPr lang="en-US" sz="1400" dirty="0">
                <a:solidFill>
                  <a:srgbClr val="A0E8D0"/>
                </a:solidFill>
                <a:latin typeface="Calibri" pitchFamily="34" charset="0"/>
                <a:ea typeface="Calibri" pitchFamily="34" charset="-122"/>
                <a:cs typeface="Calibri" pitchFamily="34" charset="-120"/>
              </a:rPr>
              <a:t>✓  Lab 7: Duplicate Detection (prevents double-counting)</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F0A500"/>
          </a:solidFill>
          <a:ln w="12700">
            <a:solidFill>
              <a:srgbClr val="F0A500"/>
            </a:solidFill>
            <a:prstDash val="solid"/>
          </a:ln>
        </p:spPr>
      </p:sp>
      <p:sp>
        <p:nvSpPr>
          <p:cNvPr id="3" name="Text 1"/>
          <p:cNvSpPr/>
          <p:nvPr/>
        </p:nvSpPr>
        <p:spPr>
          <a:xfrm>
            <a:off x="457200" y="640080"/>
            <a:ext cx="8229600" cy="640080"/>
          </a:xfrm>
          <a:prstGeom prst="rect">
            <a:avLst/>
          </a:prstGeom>
          <a:noFill/>
          <a:ln/>
        </p:spPr>
        <p:txBody>
          <a:bodyPr wrap="square" rtlCol="0" anchor="ctr"/>
          <a:lstStyle/>
          <a:p>
            <a:pPr marL="0" indent="0" algn="ctr">
              <a:buNone/>
            </a:pPr>
            <a:r>
              <a:rPr lang="en-US" sz="2200" b="1" dirty="0">
                <a:solidFill>
                  <a:srgbClr val="F0A500"/>
                </a:solidFill>
                <a:latin typeface="Calibri" pitchFamily="34" charset="0"/>
                <a:ea typeface="Calibri" pitchFamily="34" charset="-122"/>
                <a:cs typeface="Calibri" pitchFamily="34" charset="-120"/>
              </a:rPr>
              <a:t>DAY 2</a:t>
            </a:r>
            <a:endParaRPr lang="en-US" sz="2200" dirty="0"/>
          </a:p>
        </p:txBody>
      </p:sp>
      <p:sp>
        <p:nvSpPr>
          <p:cNvPr id="4" name="Text 2"/>
          <p:cNvSpPr/>
          <p:nvPr/>
        </p:nvSpPr>
        <p:spPr>
          <a:xfrm>
            <a:off x="457200" y="1371600"/>
            <a:ext cx="8229600" cy="1005840"/>
          </a:xfrm>
          <a:prstGeom prst="rect">
            <a:avLst/>
          </a:prstGeom>
          <a:noFill/>
          <a:ln/>
        </p:spPr>
        <p:txBody>
          <a:bodyPr wrap="square" rtlCol="0" anchor="ctr"/>
          <a:lstStyle/>
          <a:p>
            <a:pPr marL="0" indent="0" algn="ctr">
              <a:buNone/>
            </a:pPr>
            <a:r>
              <a:rPr lang="en-US" sz="3800" b="1" dirty="0">
                <a:solidFill>
                  <a:srgbClr val="FFFFFF"/>
                </a:solidFill>
                <a:latin typeface="Calibri" pitchFamily="34" charset="0"/>
                <a:ea typeface="Calibri" pitchFamily="34" charset="-122"/>
                <a:cs typeface="Calibri" pitchFamily="34" charset="-120"/>
              </a:rPr>
              <a:t>Enterprise Automation Solutions</a:t>
            </a:r>
            <a:endParaRPr lang="en-US" sz="3800" dirty="0"/>
          </a:p>
        </p:txBody>
      </p:sp>
      <p:sp>
        <p:nvSpPr>
          <p:cNvPr id="5" name="Text 3"/>
          <p:cNvSpPr/>
          <p:nvPr/>
        </p:nvSpPr>
        <p:spPr>
          <a:xfrm>
            <a:off x="457200" y="2514600"/>
            <a:ext cx="8229600" cy="457200"/>
          </a:xfrm>
          <a:prstGeom prst="rect">
            <a:avLst/>
          </a:prstGeom>
          <a:noFill/>
          <a:ln/>
        </p:spPr>
        <p:txBody>
          <a:bodyPr wrap="square" rtlCol="0" anchor="ctr"/>
          <a:lstStyle/>
          <a:p>
            <a:pPr marL="0" indent="0" algn="ctr">
              <a:buNone/>
            </a:pPr>
            <a:r>
              <a:rPr lang="en-US" sz="1500" dirty="0">
                <a:solidFill>
                  <a:srgbClr val="A0C4FF"/>
                </a:solidFill>
                <a:latin typeface="Calibri" pitchFamily="34" charset="0"/>
                <a:ea typeface="Calibri" pitchFamily="34" charset="-122"/>
                <a:cs typeface="Calibri" pitchFamily="34" charset="-120"/>
              </a:rPr>
              <a:t>PDF Extraction  •  Reconciliation  •  SQL Server  •  Power BI  •  Full Platform</a:t>
            </a:r>
            <a:endParaRPr lang="en-US" sz="1500" dirty="0"/>
          </a:p>
        </p:txBody>
      </p:sp>
      <p:sp>
        <p:nvSpPr>
          <p:cNvPr id="6" name="Text 4"/>
          <p:cNvSpPr/>
          <p:nvPr/>
        </p:nvSpPr>
        <p:spPr>
          <a:xfrm>
            <a:off x="731520" y="4187952"/>
            <a:ext cx="7680960" cy="502920"/>
          </a:xfrm>
          <a:prstGeom prst="rect">
            <a:avLst/>
          </a:prstGeom>
          <a:noFill/>
          <a:ln/>
        </p:spPr>
        <p:txBody>
          <a:bodyPr wrap="square" rtlCol="0" anchor="ctr"/>
          <a:lstStyle/>
          <a:p>
            <a:pPr marL="0" indent="0" algn="ctr">
              <a:buNone/>
            </a:pPr>
            <a:r>
              <a:rPr lang="en-US" sz="1400" i="1" dirty="0">
                <a:solidFill>
                  <a:srgbClr val="1A202C"/>
                </a:solidFill>
                <a:latin typeface="Calibri" pitchFamily="34" charset="0"/>
                <a:ea typeface="Calibri" pitchFamily="34" charset="-122"/>
                <a:cs typeface="Calibri" pitchFamily="34" charset="-120"/>
              </a:rPr>
              <a:t>Building production-grade automation that your entire team can use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2  •  LAB 8</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PDF Extraction</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Extract structured data from fund statements, NAV reports and trade confirmations</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5">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PDF Extraction — Why It's Hard and How to Make It Easy</a:t>
            </a:r>
            <a:endParaRPr lang="en-US" sz="2000" dirty="0"/>
          </a:p>
        </p:txBody>
      </p:sp>
      <p:sp>
        <p:nvSpPr>
          <p:cNvPr id="4" name="Text 2"/>
          <p:cNvSpPr/>
          <p:nvPr/>
        </p:nvSpPr>
        <p:spPr>
          <a:xfrm>
            <a:off x="457200" y="822960"/>
            <a:ext cx="8138160" cy="3931920"/>
          </a:xfrm>
          <a:prstGeom prst="rect">
            <a:avLst/>
          </a:prstGeom>
          <a:noFill/>
          <a:ln/>
        </p:spPr>
        <p:txBody>
          <a:bodyPr wrap="square" rtlCol="0" anchor="ctr"/>
          <a:lstStyle/>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PDFs were designed for printing, not data extraction — the structure is visual, not logical</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Three types of PDFs you'll encounter in fund ops:</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   Type 1: Text PDF — created by software (e.g. fund admin reports) — easy to extract</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   Type 2: Scanned PDF — photographed document — requires OCR</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   Type 3: Table PDF — structured tables within a text PDF — requires table detection</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Tool: pdfplumber — the best Python library for fund-style PDFs (text + tables)</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Strategy: extract text first to understand the structure, then extract specific fields</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Ask Copilot to generate the extraction code after you describe the PDF layout</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Always validate extracted values against known reference data</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7">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8</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PDF Extraction — Build Your Extractor</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Extract NAV, date, fund name, and fee data from fund statement PDFs</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Create lab8_pdf_extraction.py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Prompt Copilot: 'Write a Python script using pdfplumber to extract data from a fund NAV statement PDF. The fields I need are: fund name, valuation date, total NAV, NAV per unit, and a fee table'</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Run against sample_fund_statement_A.pdf — verify the extracted values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Run against sample_fund_statement_B.pdf (different format) — what breaks?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Ask Copilot: 'My date extraction fails when the format is DD/MM/YYYY. Fix the regex pattern'</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Ask Copilot: 'Add a function to extract all tables from the PDF and save each as a separate sheet in Excel'</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Test with sample_scanned_report.pdf — note the difference with scanned PDFs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Create a batch extractor: loop over all PDFs in data/input/ and extract to master_pdf_data.xlsx</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9.  BONUS: Ask Copilot to add confidence scoring for each extracted field</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8">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2  •  LAB 9</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PDF vs Excel Reconciliation</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Automated comparison with variance, exception and missing records reports</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9">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9</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PDF vs Excel Reconciliation</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Compare PDF-extracted NAV data against Excel records and produce a full reconciliation package</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Create lab9_reconciliation.py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Load PDF data (from Lab 8 output) into a pandas DataFrame</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Load Excel NAV data (from Lab 2 output) into a second DataFrame</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Prompt Copilot: 'Merge the two DataFrames on FundName and NAVDate. Compare the NAVValue column and flag any difference &gt; $1,000 as an exception'</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Prompt Copilot: 'Generate 4 output files: matched_clean.xlsx, exceptions.xlsx, missing_in_pdf.xlsx, missing_in_excel.xlsx'</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Prompt Copilot: 'Add a summary tab with: total funds, matched count, exception count, total variance amount'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Apply formatting using xlsxwriter: exceptions in red, matches in green, summary with bold headers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Ask Copilot: 'Add a Variance % column and sort exceptions by largest variance first'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9.  Generate a plain-text email summary (for use with Lab 4's email framework)</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0">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2  •  LAB 10</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SQL Server Integration</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Query your fund data warehouse and integrate with Python automation</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1">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SQL Server Architecture for Fund Operations</a:t>
            </a:r>
            <a:endParaRPr lang="en-US" sz="2000" dirty="0"/>
          </a:p>
        </p:txBody>
      </p:sp>
      <p:sp>
        <p:nvSpPr>
          <p:cNvPr id="4" name="Shape 2"/>
          <p:cNvSpPr/>
          <p:nvPr/>
        </p:nvSpPr>
        <p:spPr>
          <a:xfrm>
            <a:off x="274320" y="914400"/>
            <a:ext cx="2011680" cy="914400"/>
          </a:xfrm>
          <a:prstGeom prst="roundRect">
            <a:avLst>
              <a:gd name="adj" fmla="val 8000"/>
            </a:avLst>
          </a:prstGeom>
          <a:solidFill>
            <a:srgbClr val="1A2E4A"/>
          </a:solidFill>
          <a:ln w="12700">
            <a:solidFill>
              <a:srgbClr val="1A2E4A"/>
            </a:solidFill>
            <a:prstDash val="solid"/>
          </a:ln>
          <a:effectLst>
            <a:outerShdw blurRad="101600" dist="38100" dir="2700000" algn="bl" rotWithShape="0">
              <a:srgbClr val="000000">
                <a:alpha val="12000"/>
              </a:srgbClr>
            </a:outerShdw>
          </a:effectLst>
        </p:spPr>
      </p:sp>
      <p:sp>
        <p:nvSpPr>
          <p:cNvPr id="5" name="Text 3"/>
          <p:cNvSpPr/>
          <p:nvPr/>
        </p:nvSpPr>
        <p:spPr>
          <a:xfrm>
            <a:off x="274320" y="1051560"/>
            <a:ext cx="2011680" cy="6400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Fund Admin</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Systems</a:t>
            </a:r>
            <a:endParaRPr lang="en-US" sz="1200" dirty="0"/>
          </a:p>
        </p:txBody>
      </p:sp>
      <p:sp>
        <p:nvSpPr>
          <p:cNvPr id="6" name="Shape 4"/>
          <p:cNvSpPr/>
          <p:nvPr/>
        </p:nvSpPr>
        <p:spPr>
          <a:xfrm>
            <a:off x="2743200" y="914400"/>
            <a:ext cx="2011680" cy="914400"/>
          </a:xfrm>
          <a:prstGeom prst="roundRect">
            <a:avLst>
              <a:gd name="adj" fmla="val 8000"/>
            </a:avLst>
          </a:prstGeom>
          <a:solidFill>
            <a:srgbClr val="6B46C1"/>
          </a:solidFill>
          <a:ln w="12700">
            <a:solidFill>
              <a:srgbClr val="6B46C1"/>
            </a:solidFill>
            <a:prstDash val="solid"/>
          </a:ln>
          <a:effectLst>
            <a:outerShdw blurRad="101600" dist="38100" dir="2700000" algn="bl" rotWithShape="0">
              <a:srgbClr val="000000">
                <a:alpha val="12000"/>
              </a:srgbClr>
            </a:outerShdw>
          </a:effectLst>
        </p:spPr>
      </p:sp>
      <p:sp>
        <p:nvSpPr>
          <p:cNvPr id="7" name="Text 5"/>
          <p:cNvSpPr/>
          <p:nvPr/>
        </p:nvSpPr>
        <p:spPr>
          <a:xfrm>
            <a:off x="2743200" y="1051560"/>
            <a:ext cx="2011680" cy="6400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SQL Server</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Data Warehouse</a:t>
            </a:r>
            <a:endParaRPr lang="en-US" sz="1200" dirty="0"/>
          </a:p>
        </p:txBody>
      </p:sp>
      <p:sp>
        <p:nvSpPr>
          <p:cNvPr id="8" name="Shape 6"/>
          <p:cNvSpPr/>
          <p:nvPr/>
        </p:nvSpPr>
        <p:spPr>
          <a:xfrm>
            <a:off x="5212080" y="640080"/>
            <a:ext cx="2011680" cy="777240"/>
          </a:xfrm>
          <a:prstGeom prst="roundRect">
            <a:avLst>
              <a:gd name="adj" fmla="val 9412"/>
            </a:avLst>
          </a:prstGeom>
          <a:solidFill>
            <a:srgbClr val="0D7C66"/>
          </a:solidFill>
          <a:ln w="12700">
            <a:solidFill>
              <a:srgbClr val="0D7C66"/>
            </a:solidFill>
            <a:prstDash val="solid"/>
          </a:ln>
          <a:effectLst>
            <a:outerShdw blurRad="101600" dist="38100" dir="2700000" algn="bl" rotWithShape="0">
              <a:srgbClr val="000000">
                <a:alpha val="12000"/>
              </a:srgbClr>
            </a:outerShdw>
          </a:effectLst>
        </p:spPr>
      </p:sp>
      <p:sp>
        <p:nvSpPr>
          <p:cNvPr id="9" name="Text 7"/>
          <p:cNvSpPr/>
          <p:nvPr/>
        </p:nvSpPr>
        <p:spPr>
          <a:xfrm>
            <a:off x="5212080" y="756666"/>
            <a:ext cx="2011680" cy="5440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Python</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Automation</a:t>
            </a:r>
            <a:endParaRPr lang="en-US" sz="1200" dirty="0"/>
          </a:p>
        </p:txBody>
      </p:sp>
      <p:sp>
        <p:nvSpPr>
          <p:cNvPr id="10" name="Shape 8"/>
          <p:cNvSpPr/>
          <p:nvPr/>
        </p:nvSpPr>
        <p:spPr>
          <a:xfrm>
            <a:off x="5212080" y="1554480"/>
            <a:ext cx="2011680" cy="777240"/>
          </a:xfrm>
          <a:prstGeom prst="roundRect">
            <a:avLst>
              <a:gd name="adj" fmla="val 9412"/>
            </a:avLst>
          </a:prstGeom>
          <a:solidFill>
            <a:srgbClr val="2980B9"/>
          </a:solidFill>
          <a:ln w="12700">
            <a:solidFill>
              <a:srgbClr val="2980B9"/>
            </a:solidFill>
            <a:prstDash val="solid"/>
          </a:ln>
          <a:effectLst>
            <a:outerShdw blurRad="101600" dist="38100" dir="2700000" algn="bl" rotWithShape="0">
              <a:srgbClr val="000000">
                <a:alpha val="12000"/>
              </a:srgbClr>
            </a:outerShdw>
          </a:effectLst>
        </p:spPr>
      </p:sp>
      <p:sp>
        <p:nvSpPr>
          <p:cNvPr id="11" name="Text 9"/>
          <p:cNvSpPr/>
          <p:nvPr/>
        </p:nvSpPr>
        <p:spPr>
          <a:xfrm>
            <a:off x="5212080" y="1671066"/>
            <a:ext cx="2011680" cy="54406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Power BI</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Reports</a:t>
            </a:r>
            <a:endParaRPr lang="en-US" sz="1200" dirty="0"/>
          </a:p>
        </p:txBody>
      </p:sp>
      <p:sp>
        <p:nvSpPr>
          <p:cNvPr id="12" name="Shape 10"/>
          <p:cNvSpPr/>
          <p:nvPr/>
        </p:nvSpPr>
        <p:spPr>
          <a:xfrm>
            <a:off x="7589520" y="914400"/>
            <a:ext cx="1371600" cy="914400"/>
          </a:xfrm>
          <a:prstGeom prst="roundRect">
            <a:avLst>
              <a:gd name="adj" fmla="val 8000"/>
            </a:avLst>
          </a:prstGeom>
          <a:solidFill>
            <a:srgbClr val="27AE60"/>
          </a:solidFill>
          <a:ln w="12700">
            <a:solidFill>
              <a:srgbClr val="27AE60"/>
            </a:solidFill>
            <a:prstDash val="solid"/>
          </a:ln>
          <a:effectLst>
            <a:outerShdw blurRad="101600" dist="38100" dir="2700000" algn="bl" rotWithShape="0">
              <a:srgbClr val="000000">
                <a:alpha val="12000"/>
              </a:srgbClr>
            </a:outerShdw>
          </a:effectLst>
        </p:spPr>
      </p:sp>
      <p:sp>
        <p:nvSpPr>
          <p:cNvPr id="13" name="Text 11"/>
          <p:cNvSpPr/>
          <p:nvPr/>
        </p:nvSpPr>
        <p:spPr>
          <a:xfrm>
            <a:off x="7589520" y="1051560"/>
            <a:ext cx="1371600" cy="6400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Excel</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Outputs</a:t>
            </a:r>
            <a:endParaRPr lang="en-US" sz="1200" dirty="0"/>
          </a:p>
        </p:txBody>
      </p:sp>
      <p:sp>
        <p:nvSpPr>
          <p:cNvPr id="14" name="Shape 12"/>
          <p:cNvSpPr/>
          <p:nvPr/>
        </p:nvSpPr>
        <p:spPr>
          <a:xfrm>
            <a:off x="2286000" y="1371600"/>
            <a:ext cx="457200" cy="0"/>
          </a:xfrm>
          <a:prstGeom prst="line">
            <a:avLst/>
          </a:prstGeom>
          <a:noFill/>
          <a:ln w="25400">
            <a:solidFill>
              <a:srgbClr val="F0A500"/>
            </a:solidFill>
            <a:prstDash val="solid"/>
          </a:ln>
        </p:spPr>
      </p:sp>
      <p:sp>
        <p:nvSpPr>
          <p:cNvPr id="15" name="Shape 13"/>
          <p:cNvSpPr/>
          <p:nvPr/>
        </p:nvSpPr>
        <p:spPr>
          <a:xfrm>
            <a:off x="4754880" y="1024128"/>
            <a:ext cx="457200" cy="0"/>
          </a:xfrm>
          <a:prstGeom prst="line">
            <a:avLst/>
          </a:prstGeom>
          <a:noFill/>
          <a:ln w="25400">
            <a:solidFill>
              <a:srgbClr val="F0A500"/>
            </a:solidFill>
            <a:prstDash val="solid"/>
          </a:ln>
        </p:spPr>
      </p:sp>
      <p:sp>
        <p:nvSpPr>
          <p:cNvPr id="16" name="Shape 14"/>
          <p:cNvSpPr/>
          <p:nvPr/>
        </p:nvSpPr>
        <p:spPr>
          <a:xfrm>
            <a:off x="4754880" y="1938528"/>
            <a:ext cx="457200" cy="0"/>
          </a:xfrm>
          <a:prstGeom prst="line">
            <a:avLst/>
          </a:prstGeom>
          <a:noFill/>
          <a:ln w="25400">
            <a:solidFill>
              <a:srgbClr val="F0A500"/>
            </a:solidFill>
            <a:prstDash val="solid"/>
          </a:ln>
        </p:spPr>
      </p:sp>
      <p:sp>
        <p:nvSpPr>
          <p:cNvPr id="17" name="Shape 15"/>
          <p:cNvSpPr/>
          <p:nvPr/>
        </p:nvSpPr>
        <p:spPr>
          <a:xfrm>
            <a:off x="7223760" y="1371600"/>
            <a:ext cx="365760" cy="0"/>
          </a:xfrm>
          <a:prstGeom prst="line">
            <a:avLst/>
          </a:prstGeom>
          <a:noFill/>
          <a:ln w="25400">
            <a:solidFill>
              <a:srgbClr val="F0A500"/>
            </a:solidFill>
            <a:prstDash val="solid"/>
          </a:ln>
        </p:spPr>
      </p:sp>
      <p:sp>
        <p:nvSpPr>
          <p:cNvPr id="18" name="Shape 16"/>
          <p:cNvSpPr/>
          <p:nvPr/>
        </p:nvSpPr>
        <p:spPr>
          <a:xfrm>
            <a:off x="274320" y="2148840"/>
            <a:ext cx="8595360" cy="868680"/>
          </a:xfrm>
          <a:prstGeom prst="roundRect">
            <a:avLst>
              <a:gd name="adj" fmla="val 6316"/>
            </a:avLst>
          </a:prstGeom>
          <a:solidFill>
            <a:srgbClr val="0F172A"/>
          </a:solidFill>
          <a:ln w="12700">
            <a:solidFill>
              <a:srgbClr val="334155"/>
            </a:solidFill>
            <a:prstDash val="solid"/>
          </a:ln>
        </p:spPr>
      </p:sp>
      <p:sp>
        <p:nvSpPr>
          <p:cNvPr id="19" name="Text 17"/>
          <p:cNvSpPr/>
          <p:nvPr/>
        </p:nvSpPr>
        <p:spPr>
          <a:xfrm>
            <a:off x="457200" y="2203704"/>
            <a:ext cx="8229600" cy="228600"/>
          </a:xfrm>
          <a:prstGeom prst="rect">
            <a:avLst/>
          </a:prstGeom>
          <a:noFill/>
          <a:ln/>
        </p:spPr>
        <p:txBody>
          <a:bodyPr wrap="square"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Connection (pyodbc):</a:t>
            </a:r>
            <a:endParaRPr lang="en-US" sz="1100" dirty="0"/>
          </a:p>
        </p:txBody>
      </p:sp>
      <p:sp>
        <p:nvSpPr>
          <p:cNvPr id="20" name="Text 18"/>
          <p:cNvSpPr/>
          <p:nvPr/>
        </p:nvSpPr>
        <p:spPr>
          <a:xfrm>
            <a:off x="457200" y="2450592"/>
            <a:ext cx="8229600" cy="493776"/>
          </a:xfrm>
          <a:prstGeom prst="rect">
            <a:avLst/>
          </a:prstGeom>
          <a:noFill/>
          <a:ln/>
        </p:spPr>
        <p:txBody>
          <a:bodyPr wrap="square"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conn = pyodbc.connect('DRIVER={ODBC Driver 17 for SQL Server};SERVER=srv;DATABASE=FundDB;Trusted_Connection=yes')</a:t>
            </a:r>
            <a:endParaRPr lang="en-US" sz="1050" dirty="0"/>
          </a:p>
        </p:txBody>
      </p:sp>
      <p:sp>
        <p:nvSpPr>
          <p:cNvPr id="21" name="Shape 19"/>
          <p:cNvSpPr/>
          <p:nvPr/>
        </p:nvSpPr>
        <p:spPr>
          <a:xfrm>
            <a:off x="274320" y="3108960"/>
            <a:ext cx="8595360" cy="868680"/>
          </a:xfrm>
          <a:prstGeom prst="roundRect">
            <a:avLst>
              <a:gd name="adj" fmla="val 6316"/>
            </a:avLst>
          </a:prstGeom>
          <a:solidFill>
            <a:srgbClr val="0F172A"/>
          </a:solidFill>
          <a:ln w="12700">
            <a:solidFill>
              <a:srgbClr val="334155"/>
            </a:solidFill>
            <a:prstDash val="solid"/>
          </a:ln>
        </p:spPr>
      </p:sp>
      <p:sp>
        <p:nvSpPr>
          <p:cNvPr id="22" name="Text 20"/>
          <p:cNvSpPr/>
          <p:nvPr/>
        </p:nvSpPr>
        <p:spPr>
          <a:xfrm>
            <a:off x="457200" y="3163824"/>
            <a:ext cx="8229600" cy="228600"/>
          </a:xfrm>
          <a:prstGeom prst="rect">
            <a:avLst/>
          </a:prstGeom>
          <a:noFill/>
          <a:ln/>
        </p:spPr>
        <p:txBody>
          <a:bodyPr wrap="square"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Query to DataFrame:</a:t>
            </a:r>
            <a:endParaRPr lang="en-US" sz="1100" dirty="0"/>
          </a:p>
        </p:txBody>
      </p:sp>
      <p:sp>
        <p:nvSpPr>
          <p:cNvPr id="23" name="Text 21"/>
          <p:cNvSpPr/>
          <p:nvPr/>
        </p:nvSpPr>
        <p:spPr>
          <a:xfrm>
            <a:off x="457200" y="3410712"/>
            <a:ext cx="8229600" cy="493776"/>
          </a:xfrm>
          <a:prstGeom prst="rect">
            <a:avLst/>
          </a:prstGeom>
          <a:noFill/>
          <a:ln/>
        </p:spPr>
        <p:txBody>
          <a:bodyPr wrap="square"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df = pd.read_sql('SELECT FundCode, NAVDate, TotalNAV FROM dbo.vw_DailyNAV WHERE NAVDate = ?', conn, params=[target_date])</a:t>
            </a:r>
            <a:endParaRPr lang="en-US" sz="1050" dirty="0"/>
          </a:p>
        </p:txBody>
      </p:sp>
      <p:sp>
        <p:nvSpPr>
          <p:cNvPr id="24" name="Shape 22"/>
          <p:cNvSpPr/>
          <p:nvPr/>
        </p:nvSpPr>
        <p:spPr>
          <a:xfrm>
            <a:off x="274320" y="4069080"/>
            <a:ext cx="8595360" cy="868680"/>
          </a:xfrm>
          <a:prstGeom prst="roundRect">
            <a:avLst>
              <a:gd name="adj" fmla="val 6316"/>
            </a:avLst>
          </a:prstGeom>
          <a:solidFill>
            <a:srgbClr val="0F172A"/>
          </a:solidFill>
          <a:ln w="12700">
            <a:solidFill>
              <a:srgbClr val="334155"/>
            </a:solidFill>
            <a:prstDash val="solid"/>
          </a:ln>
        </p:spPr>
      </p:sp>
      <p:sp>
        <p:nvSpPr>
          <p:cNvPr id="25" name="Text 23"/>
          <p:cNvSpPr/>
          <p:nvPr/>
        </p:nvSpPr>
        <p:spPr>
          <a:xfrm>
            <a:off x="457200" y="4123944"/>
            <a:ext cx="8229600" cy="228600"/>
          </a:xfrm>
          <a:prstGeom prst="rect">
            <a:avLst/>
          </a:prstGeom>
          <a:noFill/>
          <a:ln/>
        </p:spPr>
        <p:txBody>
          <a:bodyPr wrap="square"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Parameterised (safe):</a:t>
            </a:r>
            <a:endParaRPr lang="en-US" sz="1100" dirty="0"/>
          </a:p>
        </p:txBody>
      </p:sp>
      <p:sp>
        <p:nvSpPr>
          <p:cNvPr id="26" name="Text 24"/>
          <p:cNvSpPr/>
          <p:nvPr/>
        </p:nvSpPr>
        <p:spPr>
          <a:xfrm>
            <a:off x="457200" y="4370832"/>
            <a:ext cx="8229600" cy="493776"/>
          </a:xfrm>
          <a:prstGeom prst="rect">
            <a:avLst/>
          </a:prstGeom>
          <a:noFill/>
          <a:ln/>
        </p:spPr>
        <p:txBody>
          <a:bodyPr wrap="square" rtlCol="0" anchor="ctr"/>
          <a:lstStyle/>
          <a:p>
            <a:pPr marL="0" indent="0">
              <a:buNone/>
            </a:pPr>
            <a:r>
              <a:rPr lang="en-US" sz="1050" dirty="0">
                <a:solidFill>
                  <a:srgbClr val="E2E8F0"/>
                </a:solidFill>
                <a:latin typeface="Courier New" pitchFamily="34" charset="0"/>
                <a:ea typeface="Courier New" pitchFamily="34" charset="-122"/>
                <a:cs typeface="Courier New" pitchFamily="34" charset="-120"/>
              </a:rPr>
              <a:t>df = pd.read_sql('SELECT * FROM dbo.Positions WHERE FundCode = ? AND TradeDate BETWEEN ? AND ?', conn, params=[fund, start, end])</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2">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10</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SQL Server Integration</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Query your fund data warehouse and reconcile against Excel/PDF sources</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Create lab10_sql_integration.py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Prompt Copilot: 'Write Python code using pyodbc and pandas to connect to SQL Server using Windows authentication and run a parameterised query'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Test connection: run a simple SELECT TOP 5 * FROM dbo.vw_DailyNAV query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Query the NAV view for today's date: df_sql = pd.read_sql(nav_query, conn, params=[today])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Load your Lab 2 Excel output into df_excel</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Prompt Copilot: 'Reconcile df_sql against df_excel on FundCode. Flag NAV differences &gt; tolerance'</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Generate SQL_vs_Excel_Recon.xlsx with the 4-part output (matched, exceptions, missing)</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Ask Copilot: 'Write a stored procedure call to log reconciliation results back to SQL Server'</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9.  BONUS: Create a dynamic SQL query builder that takes a date range and fund list as inputs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3">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2  •  LAB 11</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Power BI Integration</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Extract data from semantic models and create Power BI-ready outputs</a:t>
            </a:r>
            <a:endParaRPr lang="en-US" sz="1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4">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Power BI Integration — Two Directions</a:t>
            </a:r>
            <a:endParaRPr lang="en-US" sz="2000" dirty="0"/>
          </a:p>
        </p:txBody>
      </p:sp>
      <p:sp>
        <p:nvSpPr>
          <p:cNvPr id="4" name="Text 2"/>
          <p:cNvSpPr/>
          <p:nvPr/>
        </p:nvSpPr>
        <p:spPr>
          <a:xfrm>
            <a:off x="457200" y="822960"/>
            <a:ext cx="8138160" cy="3931920"/>
          </a:xfrm>
          <a:prstGeom prst="rect">
            <a:avLst/>
          </a:prstGeom>
          <a:noFill/>
          <a:ln/>
        </p:spPr>
        <p:txBody>
          <a:bodyPr wrap="square" rtlCol="0" anchor="ctr"/>
          <a:lstStyle/>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Direction 1 — Python TO Power BI: create datasets that Power BI can consume automatically</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   → Save to SharePoint as formatted Excel → Power BI auto-refreshes via SharePoint connector</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   → Write directly to SQL Server → Power BI reads via DirectQuery or Import</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   → Generate CSV in structured folder → Power BI picks up via folder connector</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Direction 2 — Power BI TO Python: extract data from published semantic models</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   → Use Power BI REST API to read datasets, refresh history, report usage</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   → Use XMLA endpoint to query the semantic model directly with DAX</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   → Extract data for offline analysis, cross-system reconciliation</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Best practice for fund ops: Python creates the clean, validated dataset; Power BI visualises it</a:t>
            </a:r>
            <a:endParaRPr lang="en-US" sz="1600" dirty="0"/>
          </a:p>
          <a:p>
            <a:pPr marL="342900" indent="-342900">
              <a:spcAft>
                <a:spcPts val="600"/>
              </a:spcAft>
              <a:buSzPct val="100000"/>
              <a:buChar char="•"/>
            </a:pPr>
            <a:r>
              <a:rPr lang="en-US" sz="1600" dirty="0">
                <a:solidFill>
                  <a:srgbClr val="1A202C"/>
                </a:solidFill>
                <a:latin typeface="Calibri" pitchFamily="34" charset="0"/>
                <a:ea typeface="Calibri" pitchFamily="34" charset="-122"/>
                <a:cs typeface="Calibri" pitchFamily="34" charset="-120"/>
              </a:rPr>
              <a:t>Never let Power BI do your data cleansing — that's what your Python automation is for</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5">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11</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Power BI Integration</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Create Power BI-ready datasets from your automation pipeline and connect to published models</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Create lab11_powerbi_integration.py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Prompt Copilot: 'Write Python code to authenticate to Power BI using the requests library and the Power BI REST API'</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List your workspaces: GET /v1.0/myorg/groups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List datasets in a workspace: GET /v1.0/myorg/groups/{workspaceId}/datasets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Prompt Copilot: 'Create a function that formats a pandas DataFrame for Power BI consumption with proper data types and date formatting'</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Save your master NAV DataFrame to SharePoint as a Power BI-friendly Excel (clean headers, no merged cells, no totals rows)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Create a star-schema-friendly output: facts table (NAV_Facts.xlsx) + dimension tables (Fund_Dim.xlsx, Date_Dim.xlsx)</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BONUS: Trigger a Power BI dataset refresh via the REST API after your data is updated</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6">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2  •  LAB 12</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Exception Reporting Framework</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Automated identification, classification and escalation of data quality issues</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7C66"/>
          </a:solidFill>
          <a:ln w="12700">
            <a:solidFill>
              <a:srgbClr val="0D7C66"/>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Exception Reporting Framework — Rule-Based Classification</a:t>
            </a:r>
            <a:endParaRPr lang="en-US" sz="1800" dirty="0"/>
          </a:p>
        </p:txBody>
      </p:sp>
      <p:sp>
        <p:nvSpPr>
          <p:cNvPr id="4" name="Text 2"/>
          <p:cNvSpPr/>
          <p:nvPr/>
        </p:nvSpPr>
        <p:spPr>
          <a:xfrm>
            <a:off x="320040" y="749808"/>
            <a:ext cx="8503920" cy="411480"/>
          </a:xfrm>
          <a:prstGeom prst="rect">
            <a:avLst/>
          </a:prstGeom>
          <a:noFill/>
          <a:ln/>
        </p:spPr>
        <p:txBody>
          <a:bodyPr wrap="square" rtlCol="0" anchor="ctr"/>
          <a:lstStyle/>
          <a:p>
            <a:pPr marL="0" indent="0">
              <a:buNone/>
            </a:pPr>
            <a:r>
              <a:rPr lang="en-US" sz="1300" dirty="0">
                <a:solidFill>
                  <a:srgbClr val="94A3B8"/>
                </a:solidFill>
                <a:latin typeface="Calibri" pitchFamily="34" charset="0"/>
                <a:ea typeface="Calibri" pitchFamily="34" charset="-122"/>
                <a:cs typeface="Calibri" pitchFamily="34" charset="-120"/>
              </a:rPr>
              <a:t>Rules are data-driven and configurable — no code change needed to add new rules</a:t>
            </a:r>
            <a:endParaRPr lang="en-US" sz="1300" dirty="0"/>
          </a:p>
        </p:txBody>
      </p:sp>
      <p:sp>
        <p:nvSpPr>
          <p:cNvPr id="5" name="Shape 3"/>
          <p:cNvSpPr/>
          <p:nvPr/>
        </p:nvSpPr>
        <p:spPr>
          <a:xfrm>
            <a:off x="228600" y="1207008"/>
            <a:ext cx="8686800" cy="3799332"/>
          </a:xfrm>
          <a:prstGeom prst="roundRect">
            <a:avLst>
              <a:gd name="adj" fmla="val 1925"/>
            </a:avLst>
          </a:prstGeom>
          <a:solidFill>
            <a:srgbClr val="1E293B"/>
          </a:solidFill>
          <a:ln w="12700">
            <a:solidFill>
              <a:srgbClr val="334155"/>
            </a:solidFill>
            <a:prstDash val="solid"/>
          </a:ln>
        </p:spPr>
      </p:sp>
      <p:sp>
        <p:nvSpPr>
          <p:cNvPr id="6" name="Text 4"/>
          <p:cNvSpPr/>
          <p:nvPr/>
        </p:nvSpPr>
        <p:spPr>
          <a:xfrm>
            <a:off x="411480" y="1316736"/>
            <a:ext cx="8321040" cy="3579876"/>
          </a:xfrm>
          <a:prstGeom prst="rect">
            <a:avLst/>
          </a:prstGeom>
          <a:noFill/>
          <a:ln/>
        </p:spPr>
        <p:txBody>
          <a:bodyPr wrap="square" rtlCol="0" anchor="ctr"/>
          <a:lstStyle/>
          <a:p>
            <a:pPr marL="0" indent="0">
              <a:buNone/>
            </a:pPr>
            <a:r>
              <a:rPr lang="en-US" sz="1150" dirty="0">
                <a:solidFill>
                  <a:srgbClr val="E2E8F0"/>
                </a:solidFill>
                <a:latin typeface="Courier New" pitchFamily="34" charset="0"/>
                <a:ea typeface="Courier New" pitchFamily="34" charset="-122"/>
                <a:cs typeface="Courier New" pitchFamily="34" charset="-120"/>
              </a:rPr>
              <a:t># Ask Copilot: "Build an exception reporting framework for fund NAV reconciliation.</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Exceptions should be classified by severity and include a recommended action"</a:t>
            </a:r>
            <a:endParaRPr lang="en-US" sz="1150" dirty="0"/>
          </a:p>
          <a:p>
            <a:pPr marL="0" indent="0">
              <a:buNone/>
            </a:pP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from dataclasses import dataclass</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from enum import Enum</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from typing import List</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import pandas as pd</a:t>
            </a:r>
            <a:endParaRPr lang="en-US" sz="1150" dirty="0"/>
          </a:p>
          <a:p>
            <a:pPr marL="0" indent="0">
              <a:buNone/>
            </a:pP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class Severity(Enum):</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CRITICAL = "CRITICAL"    # Breach of threshold — immediate action</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HIGH     = "HIGH"        # Significant variance — same-day review</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MEDIUM   = "MEDIUM"      # Within tolerance — review before close</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INFO     = "INFO"        # Informational — log only</a:t>
            </a:r>
            <a:endParaRPr lang="en-US" sz="1150" dirty="0"/>
          </a:p>
          <a:p>
            <a:pPr marL="0" indent="0">
              <a:buNone/>
            </a:pP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@dataclass</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class ExceptionRule:</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name:        str</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field:       str</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condition:   callable</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severity:    Severity</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action:      str</a:t>
            </a:r>
            <a:endParaRPr lang="en-US" sz="1150" dirty="0"/>
          </a:p>
          <a:p>
            <a:pPr marL="0" indent="0">
              <a:buNone/>
            </a:pP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Define rules (configurable — load from JSON in production)</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EXCEPTION_RULES = [</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ExceptionRule("NAV_MISSING",    "NAVValue",  lambda x: x is None,         Severity.CRITICAL, "Contact fund admin immediately"),</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ExceptionRule("NAV_ZERO",       "NAVValue",  lambda x: x == 0,            Severity.CRITICAL, "Verify — likely data error"),</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ExceptionRule("NAV_LARGE_MOVE", "NAV_Change",lambda x: abs(x or 0) &gt; 0.05,Severity.HIGH,     "Review pricing sources"),</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ExceptionRule("DATE_MISMATCH",  "NAVDate",   lambda x: x is None,         Severity.HIGH,     "Confirm valuation date"),</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ExceptionRule("FEE_OUTLIER",    "MgmtFee",   lambda x: abs(x or 0) &gt; 0.02,Severity.MEDIUM,   "Verify fee rate against IMA"),</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a:t>
            </a:r>
            <a:endParaRPr lang="en-US" sz="1150" dirty="0"/>
          </a:p>
          <a:p>
            <a:pPr marL="0" indent="0">
              <a:buNone/>
            </a:pP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def run_exception_engine(df: pd.DataFrame) -&gt; pd.DataFrame:</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exceptions = []</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for _, row in df.iterrows():</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for rule in EXCEPTION_RULES:</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try:</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if rule.condition(row.get(rule.field)):</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exceptions.append({</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"FundName":  row.get("FundName"),</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"Rule":      rule.name,</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"Severity":  rule.severity.value,</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"Value":     row.get(rule.field),</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"Action":    rule.action,</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except: pass</a:t>
            </a:r>
            <a:endParaRPr lang="en-US" sz="1150" dirty="0"/>
          </a:p>
          <a:p>
            <a:pPr marL="0" indent="0">
              <a:buNone/>
            </a:pPr>
            <a:r>
              <a:rPr lang="en-US" sz="1150" dirty="0">
                <a:solidFill>
                  <a:srgbClr val="E2E8F0"/>
                </a:solidFill>
                <a:latin typeface="Courier New" pitchFamily="34" charset="0"/>
                <a:ea typeface="Courier New" pitchFamily="34" charset="-122"/>
                <a:cs typeface="Courier New" pitchFamily="34" charset="-120"/>
              </a:rPr>
              <a:t>    return pd.DataFrame(exceptions).sort_values("Severity")</a:t>
            </a:r>
            <a:endParaRPr lang="en-US" sz="11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8">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12</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Exception Reporting Framework</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Build a configurable exception engine that classifies data issues by severity</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Create lab12_exception_framework.py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Prompt Copilot: 'Build a rule-based exception detection engine for fund NAV data. Rules should be loadable from a JSON config file'</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Create config/exception_rules.json with at least 6 rules based on your real business logic</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Run the engine against your reconciliation output from Lab 9</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Generate exceptions.xlsx with columns: FundName, RuleName, Severity, Value, ExpectedValue, Action, DetectedAt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Apply Excel conditional formatting: CRITICAL = red fill, HIGH = orange, MEDIUM = yellow</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Ask Copilot: 'Add a rule that flags any fund where NAV has moved more than 5% vs prior day'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Create an exception summary email template using Python string formatting</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9.  BONUS: Build a rule that checks if all expected funds are present (catch missing reports)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9">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2  •  LAB 13</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Enterprise Validation Rules Engine</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Data quality gates before any report leaves your team</a:t>
            </a:r>
            <a:endParaRPr lang="en-US" sz="17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50">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13</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Enterprise Validation Rules Engine</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Build a data quality validation layer that catches errors before they reach investors or regulators</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Create lab13_validation_engine.py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Prompt Copilot: 'Build a data validation class with these checks: (1) NAV value is numeric and positive, (2) Date is within expected range, (3) Fund code exists in reference master, (4) Currency code is valid ISO 4217, (5) All required fields are present'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Load the fund reference master from data/reference/fund_master.xlsx</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Run validation against today's collected NAV data</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Output: validation_passed.xlsx (clean records), validation_failed.xlsx (rejected with reason)</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Ask Copilot: 'Add cross-field validation: if share class is Institutional, minimum NAV should be &gt; $1M'</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Ask Copilot: 'Add a completeness check: all expected funds must be present by 10:00 AM'</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Integrate validation into the full pipeline from Lab 4 (email) → Lab 2 (collection) → validate → report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9.  BONUS: Ask Copilot to generate a Data Quality Score (0-100) for each fund based on validation pass rate</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51">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2  •  LAB 14</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SharePoint Integration</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Automated file management: input, processing, reports, archive</a:t>
            </a:r>
            <a:endParaRPr lang="en-US" sz="17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2">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SharePoint Folder Architecture for Fund Operations</a:t>
            </a:r>
            <a:endParaRPr lang="en-US" sz="2000" dirty="0"/>
          </a:p>
        </p:txBody>
      </p:sp>
      <p:sp>
        <p:nvSpPr>
          <p:cNvPr id="4" name="Shape 2"/>
          <p:cNvSpPr/>
          <p:nvPr/>
        </p:nvSpPr>
        <p:spPr>
          <a:xfrm>
            <a:off x="274320" y="777240"/>
            <a:ext cx="4206240" cy="914400"/>
          </a:xfrm>
          <a:prstGeom prst="roundRect">
            <a:avLst>
              <a:gd name="adj" fmla="val 7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5" name="Shape 3"/>
          <p:cNvSpPr/>
          <p:nvPr/>
        </p:nvSpPr>
        <p:spPr>
          <a:xfrm>
            <a:off x="347472" y="1033272"/>
            <a:ext cx="402336" cy="402336"/>
          </a:xfrm>
          <a:prstGeom prst="roundRect">
            <a:avLst>
              <a:gd name="adj" fmla="val 9091"/>
            </a:avLst>
          </a:prstGeom>
          <a:solidFill>
            <a:srgbClr val="1A2E4A"/>
          </a:solidFill>
          <a:ln w="12700">
            <a:solidFill>
              <a:srgbClr val="1A2E4A"/>
            </a:solidFill>
            <a:prstDash val="solid"/>
          </a:ln>
        </p:spPr>
      </p:sp>
      <p:sp>
        <p:nvSpPr>
          <p:cNvPr id="6" name="Text 4"/>
          <p:cNvSpPr/>
          <p:nvPr/>
        </p:nvSpPr>
        <p:spPr>
          <a:xfrm>
            <a:off x="347472" y="1024128"/>
            <a:ext cx="402336" cy="402336"/>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7" name="Text 5"/>
          <p:cNvSpPr/>
          <p:nvPr/>
        </p:nvSpPr>
        <p:spPr>
          <a:xfrm>
            <a:off x="868680" y="850392"/>
            <a:ext cx="3502152" cy="347472"/>
          </a:xfrm>
          <a:prstGeom prst="rect">
            <a:avLst/>
          </a:prstGeom>
          <a:noFill/>
          <a:ln/>
        </p:spPr>
        <p:txBody>
          <a:bodyPr wrap="square" rtlCol="0" anchor="ctr"/>
          <a:lstStyle/>
          <a:p>
            <a:pPr marL="0" indent="0">
              <a:buNone/>
            </a:pPr>
            <a:r>
              <a:rPr lang="en-US" sz="1200" b="1" dirty="0">
                <a:solidFill>
                  <a:srgbClr val="1A2E4A"/>
                </a:solidFill>
                <a:latin typeface="Courier New" pitchFamily="34" charset="0"/>
                <a:ea typeface="Courier New" pitchFamily="34" charset="-122"/>
                <a:cs typeface="Courier New" pitchFamily="34" charset="-120"/>
              </a:rPr>
              <a:t>FundOps/</a:t>
            </a:r>
            <a:endParaRPr lang="en-US" sz="1200" dirty="0"/>
          </a:p>
        </p:txBody>
      </p:sp>
      <p:sp>
        <p:nvSpPr>
          <p:cNvPr id="8" name="Text 6"/>
          <p:cNvSpPr/>
          <p:nvPr/>
        </p:nvSpPr>
        <p:spPr>
          <a:xfrm>
            <a:off x="868680" y="1234440"/>
            <a:ext cx="3502152" cy="36576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Root site</a:t>
            </a:r>
            <a:endParaRPr lang="en-US" sz="1100" dirty="0"/>
          </a:p>
        </p:txBody>
      </p:sp>
      <p:sp>
        <p:nvSpPr>
          <p:cNvPr id="9" name="Shape 7"/>
          <p:cNvSpPr/>
          <p:nvPr/>
        </p:nvSpPr>
        <p:spPr>
          <a:xfrm>
            <a:off x="274320" y="1819656"/>
            <a:ext cx="4206240" cy="914400"/>
          </a:xfrm>
          <a:prstGeom prst="roundRect">
            <a:avLst>
              <a:gd name="adj" fmla="val 7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0" name="Shape 8"/>
          <p:cNvSpPr/>
          <p:nvPr/>
        </p:nvSpPr>
        <p:spPr>
          <a:xfrm>
            <a:off x="347472" y="2075688"/>
            <a:ext cx="402336" cy="402336"/>
          </a:xfrm>
          <a:prstGeom prst="roundRect">
            <a:avLst>
              <a:gd name="adj" fmla="val 9091"/>
            </a:avLst>
          </a:prstGeom>
          <a:solidFill>
            <a:srgbClr val="0D7C66"/>
          </a:solidFill>
          <a:ln w="12700">
            <a:solidFill>
              <a:srgbClr val="0D7C66"/>
            </a:solidFill>
            <a:prstDash val="solid"/>
          </a:ln>
        </p:spPr>
      </p:sp>
      <p:sp>
        <p:nvSpPr>
          <p:cNvPr id="11" name="Text 9"/>
          <p:cNvSpPr/>
          <p:nvPr/>
        </p:nvSpPr>
        <p:spPr>
          <a:xfrm>
            <a:off x="347472" y="2066544"/>
            <a:ext cx="402336" cy="402336"/>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2" name="Text 10"/>
          <p:cNvSpPr/>
          <p:nvPr/>
        </p:nvSpPr>
        <p:spPr>
          <a:xfrm>
            <a:off x="868680" y="1892808"/>
            <a:ext cx="3502152" cy="347472"/>
          </a:xfrm>
          <a:prstGeom prst="rect">
            <a:avLst/>
          </a:prstGeom>
          <a:noFill/>
          <a:ln/>
        </p:spPr>
        <p:txBody>
          <a:bodyPr wrap="square" rtlCol="0" anchor="ctr"/>
          <a:lstStyle/>
          <a:p>
            <a:pPr marL="0" indent="0">
              <a:buNone/>
            </a:pPr>
            <a:r>
              <a:rPr lang="en-US" sz="1200" b="1" dirty="0">
                <a:solidFill>
                  <a:srgbClr val="0D7C66"/>
                </a:solidFill>
                <a:latin typeface="Courier New" pitchFamily="34" charset="0"/>
                <a:ea typeface="Courier New" pitchFamily="34" charset="-122"/>
                <a:cs typeface="Courier New" pitchFamily="34" charset="-120"/>
              </a:rPr>
              <a:t>FundOps/Input/</a:t>
            </a:r>
            <a:endParaRPr lang="en-US" sz="1200" dirty="0"/>
          </a:p>
        </p:txBody>
      </p:sp>
      <p:sp>
        <p:nvSpPr>
          <p:cNvPr id="13" name="Text 11"/>
          <p:cNvSpPr/>
          <p:nvPr/>
        </p:nvSpPr>
        <p:spPr>
          <a:xfrm>
            <a:off x="868680" y="2276856"/>
            <a:ext cx="3502152" cy="36576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Raw files from fund admins (email attachments land here)</a:t>
            </a:r>
            <a:endParaRPr lang="en-US" sz="1100" dirty="0"/>
          </a:p>
        </p:txBody>
      </p:sp>
      <p:sp>
        <p:nvSpPr>
          <p:cNvPr id="14" name="Shape 12"/>
          <p:cNvSpPr/>
          <p:nvPr/>
        </p:nvSpPr>
        <p:spPr>
          <a:xfrm>
            <a:off x="274320" y="2862072"/>
            <a:ext cx="4206240" cy="914400"/>
          </a:xfrm>
          <a:prstGeom prst="roundRect">
            <a:avLst>
              <a:gd name="adj" fmla="val 7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5" name="Shape 13"/>
          <p:cNvSpPr/>
          <p:nvPr/>
        </p:nvSpPr>
        <p:spPr>
          <a:xfrm>
            <a:off x="347472" y="3118104"/>
            <a:ext cx="402336" cy="402336"/>
          </a:xfrm>
          <a:prstGeom prst="roundRect">
            <a:avLst>
              <a:gd name="adj" fmla="val 9091"/>
            </a:avLst>
          </a:prstGeom>
          <a:solidFill>
            <a:srgbClr val="2980B9"/>
          </a:solidFill>
          <a:ln w="12700">
            <a:solidFill>
              <a:srgbClr val="2980B9"/>
            </a:solidFill>
            <a:prstDash val="solid"/>
          </a:ln>
        </p:spPr>
      </p:sp>
      <p:sp>
        <p:nvSpPr>
          <p:cNvPr id="16" name="Text 14"/>
          <p:cNvSpPr/>
          <p:nvPr/>
        </p:nvSpPr>
        <p:spPr>
          <a:xfrm>
            <a:off x="347472" y="3108960"/>
            <a:ext cx="402336" cy="402336"/>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17" name="Text 15"/>
          <p:cNvSpPr/>
          <p:nvPr/>
        </p:nvSpPr>
        <p:spPr>
          <a:xfrm>
            <a:off x="868680" y="2935224"/>
            <a:ext cx="3502152" cy="347472"/>
          </a:xfrm>
          <a:prstGeom prst="rect">
            <a:avLst/>
          </a:prstGeom>
          <a:noFill/>
          <a:ln/>
        </p:spPr>
        <p:txBody>
          <a:bodyPr wrap="square" rtlCol="0" anchor="ctr"/>
          <a:lstStyle/>
          <a:p>
            <a:pPr marL="0" indent="0">
              <a:buNone/>
            </a:pPr>
            <a:r>
              <a:rPr lang="en-US" sz="1200" b="1" dirty="0">
                <a:solidFill>
                  <a:srgbClr val="2980B9"/>
                </a:solidFill>
                <a:latin typeface="Courier New" pitchFamily="34" charset="0"/>
                <a:ea typeface="Courier New" pitchFamily="34" charset="-122"/>
                <a:cs typeface="Courier New" pitchFamily="34" charset="-120"/>
              </a:rPr>
              <a:t>FundOps/Processing/</a:t>
            </a:r>
            <a:endParaRPr lang="en-US" sz="1200" dirty="0"/>
          </a:p>
        </p:txBody>
      </p:sp>
      <p:sp>
        <p:nvSpPr>
          <p:cNvPr id="18" name="Text 16"/>
          <p:cNvSpPr/>
          <p:nvPr/>
        </p:nvSpPr>
        <p:spPr>
          <a:xfrm>
            <a:off x="868680" y="3319272"/>
            <a:ext cx="3502152" cy="36576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Files being actively processed (locked)</a:t>
            </a:r>
            <a:endParaRPr lang="en-US" sz="1100" dirty="0"/>
          </a:p>
        </p:txBody>
      </p:sp>
      <p:sp>
        <p:nvSpPr>
          <p:cNvPr id="19" name="Shape 17"/>
          <p:cNvSpPr/>
          <p:nvPr/>
        </p:nvSpPr>
        <p:spPr>
          <a:xfrm>
            <a:off x="274320" y="3904488"/>
            <a:ext cx="4206240" cy="914400"/>
          </a:xfrm>
          <a:prstGeom prst="roundRect">
            <a:avLst>
              <a:gd name="adj" fmla="val 7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20" name="Shape 18"/>
          <p:cNvSpPr/>
          <p:nvPr/>
        </p:nvSpPr>
        <p:spPr>
          <a:xfrm>
            <a:off x="347472" y="4160520"/>
            <a:ext cx="402336" cy="402336"/>
          </a:xfrm>
          <a:prstGeom prst="roundRect">
            <a:avLst>
              <a:gd name="adj" fmla="val 9091"/>
            </a:avLst>
          </a:prstGeom>
          <a:solidFill>
            <a:srgbClr val="27AE60"/>
          </a:solidFill>
          <a:ln w="12700">
            <a:solidFill>
              <a:srgbClr val="27AE60"/>
            </a:solidFill>
            <a:prstDash val="solid"/>
          </a:ln>
        </p:spPr>
      </p:sp>
      <p:sp>
        <p:nvSpPr>
          <p:cNvPr id="21" name="Text 19"/>
          <p:cNvSpPr/>
          <p:nvPr/>
        </p:nvSpPr>
        <p:spPr>
          <a:xfrm>
            <a:off x="347472" y="4151376"/>
            <a:ext cx="402336" cy="402336"/>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2" name="Text 20"/>
          <p:cNvSpPr/>
          <p:nvPr/>
        </p:nvSpPr>
        <p:spPr>
          <a:xfrm>
            <a:off x="868680" y="3977640"/>
            <a:ext cx="3502152" cy="347472"/>
          </a:xfrm>
          <a:prstGeom prst="rect">
            <a:avLst/>
          </a:prstGeom>
          <a:noFill/>
          <a:ln/>
        </p:spPr>
        <p:txBody>
          <a:bodyPr wrap="square" rtlCol="0" anchor="ctr"/>
          <a:lstStyle/>
          <a:p>
            <a:pPr marL="0" indent="0">
              <a:buNone/>
            </a:pPr>
            <a:r>
              <a:rPr lang="en-US" sz="1200" b="1" dirty="0">
                <a:solidFill>
                  <a:srgbClr val="27AE60"/>
                </a:solidFill>
                <a:latin typeface="Courier New" pitchFamily="34" charset="0"/>
                <a:ea typeface="Courier New" pitchFamily="34" charset="-122"/>
                <a:cs typeface="Courier New" pitchFamily="34" charset="-120"/>
              </a:rPr>
              <a:t>FundOps/Processed/</a:t>
            </a:r>
            <a:endParaRPr lang="en-US" sz="1200" dirty="0"/>
          </a:p>
        </p:txBody>
      </p:sp>
      <p:sp>
        <p:nvSpPr>
          <p:cNvPr id="23" name="Text 21"/>
          <p:cNvSpPr/>
          <p:nvPr/>
        </p:nvSpPr>
        <p:spPr>
          <a:xfrm>
            <a:off x="868680" y="4361688"/>
            <a:ext cx="3502152" cy="36576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Successfully processed files (archived by date)</a:t>
            </a:r>
            <a:endParaRPr lang="en-US" sz="1100" dirty="0"/>
          </a:p>
        </p:txBody>
      </p:sp>
      <p:sp>
        <p:nvSpPr>
          <p:cNvPr id="24" name="Shape 22"/>
          <p:cNvSpPr/>
          <p:nvPr/>
        </p:nvSpPr>
        <p:spPr>
          <a:xfrm>
            <a:off x="4754880" y="777240"/>
            <a:ext cx="4206240" cy="914400"/>
          </a:xfrm>
          <a:prstGeom prst="roundRect">
            <a:avLst>
              <a:gd name="adj" fmla="val 7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25" name="Shape 23"/>
          <p:cNvSpPr/>
          <p:nvPr/>
        </p:nvSpPr>
        <p:spPr>
          <a:xfrm>
            <a:off x="4828032" y="1033272"/>
            <a:ext cx="402336" cy="402336"/>
          </a:xfrm>
          <a:prstGeom prst="roundRect">
            <a:avLst>
              <a:gd name="adj" fmla="val 9091"/>
            </a:avLst>
          </a:prstGeom>
          <a:solidFill>
            <a:srgbClr val="6B46C1"/>
          </a:solidFill>
          <a:ln w="12700">
            <a:solidFill>
              <a:srgbClr val="6B46C1"/>
            </a:solidFill>
            <a:prstDash val="solid"/>
          </a:ln>
        </p:spPr>
      </p:sp>
      <p:sp>
        <p:nvSpPr>
          <p:cNvPr id="26" name="Text 24"/>
          <p:cNvSpPr/>
          <p:nvPr/>
        </p:nvSpPr>
        <p:spPr>
          <a:xfrm>
            <a:off x="4828032" y="1024128"/>
            <a:ext cx="402336" cy="402336"/>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27" name="Text 25"/>
          <p:cNvSpPr/>
          <p:nvPr/>
        </p:nvSpPr>
        <p:spPr>
          <a:xfrm>
            <a:off x="5349240" y="850392"/>
            <a:ext cx="3502152" cy="347472"/>
          </a:xfrm>
          <a:prstGeom prst="rect">
            <a:avLst/>
          </a:prstGeom>
          <a:noFill/>
          <a:ln/>
        </p:spPr>
        <p:txBody>
          <a:bodyPr wrap="square" rtlCol="0" anchor="ctr"/>
          <a:lstStyle/>
          <a:p>
            <a:pPr marL="0" indent="0">
              <a:buNone/>
            </a:pPr>
            <a:r>
              <a:rPr lang="en-US" sz="1200" b="1" dirty="0">
                <a:solidFill>
                  <a:srgbClr val="6B46C1"/>
                </a:solidFill>
                <a:latin typeface="Courier New" pitchFamily="34" charset="0"/>
                <a:ea typeface="Courier New" pitchFamily="34" charset="-122"/>
                <a:cs typeface="Courier New" pitchFamily="34" charset="-120"/>
              </a:rPr>
              <a:t>FundOps/Reports/Daily/</a:t>
            </a:r>
            <a:endParaRPr lang="en-US" sz="1200" dirty="0"/>
          </a:p>
        </p:txBody>
      </p:sp>
      <p:sp>
        <p:nvSpPr>
          <p:cNvPr id="28" name="Text 26"/>
          <p:cNvSpPr/>
          <p:nvPr/>
        </p:nvSpPr>
        <p:spPr>
          <a:xfrm>
            <a:off x="5349240" y="1234440"/>
            <a:ext cx="3502152" cy="36576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Daily NAV reports, reconciliation outputs</a:t>
            </a:r>
            <a:endParaRPr lang="en-US" sz="1100" dirty="0"/>
          </a:p>
        </p:txBody>
      </p:sp>
      <p:sp>
        <p:nvSpPr>
          <p:cNvPr id="29" name="Shape 27"/>
          <p:cNvSpPr/>
          <p:nvPr/>
        </p:nvSpPr>
        <p:spPr>
          <a:xfrm>
            <a:off x="4754880" y="1819656"/>
            <a:ext cx="4206240" cy="914400"/>
          </a:xfrm>
          <a:prstGeom prst="roundRect">
            <a:avLst>
              <a:gd name="adj" fmla="val 7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30" name="Shape 28"/>
          <p:cNvSpPr/>
          <p:nvPr/>
        </p:nvSpPr>
        <p:spPr>
          <a:xfrm>
            <a:off x="4828032" y="2075688"/>
            <a:ext cx="402336" cy="402336"/>
          </a:xfrm>
          <a:prstGeom prst="roundRect">
            <a:avLst>
              <a:gd name="adj" fmla="val 9091"/>
            </a:avLst>
          </a:prstGeom>
          <a:solidFill>
            <a:srgbClr val="6B46C1"/>
          </a:solidFill>
          <a:ln w="12700">
            <a:solidFill>
              <a:srgbClr val="6B46C1"/>
            </a:solidFill>
            <a:prstDash val="solid"/>
          </a:ln>
        </p:spPr>
      </p:sp>
      <p:sp>
        <p:nvSpPr>
          <p:cNvPr id="31" name="Text 29"/>
          <p:cNvSpPr/>
          <p:nvPr/>
        </p:nvSpPr>
        <p:spPr>
          <a:xfrm>
            <a:off x="4828032" y="2066544"/>
            <a:ext cx="402336" cy="402336"/>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32" name="Text 30"/>
          <p:cNvSpPr/>
          <p:nvPr/>
        </p:nvSpPr>
        <p:spPr>
          <a:xfrm>
            <a:off x="5349240" y="1892808"/>
            <a:ext cx="3502152" cy="347472"/>
          </a:xfrm>
          <a:prstGeom prst="rect">
            <a:avLst/>
          </a:prstGeom>
          <a:noFill/>
          <a:ln/>
        </p:spPr>
        <p:txBody>
          <a:bodyPr wrap="square" rtlCol="0" anchor="ctr"/>
          <a:lstStyle/>
          <a:p>
            <a:pPr marL="0" indent="0">
              <a:buNone/>
            </a:pPr>
            <a:r>
              <a:rPr lang="en-US" sz="1200" b="1" dirty="0">
                <a:solidFill>
                  <a:srgbClr val="6B46C1"/>
                </a:solidFill>
                <a:latin typeface="Courier New" pitchFamily="34" charset="0"/>
                <a:ea typeface="Courier New" pitchFamily="34" charset="-122"/>
                <a:cs typeface="Courier New" pitchFamily="34" charset="-120"/>
              </a:rPr>
              <a:t>FundOps/Reports/Monthly/</a:t>
            </a:r>
            <a:endParaRPr lang="en-US" sz="1200" dirty="0"/>
          </a:p>
        </p:txBody>
      </p:sp>
      <p:sp>
        <p:nvSpPr>
          <p:cNvPr id="33" name="Text 31"/>
          <p:cNvSpPr/>
          <p:nvPr/>
        </p:nvSpPr>
        <p:spPr>
          <a:xfrm>
            <a:off x="5349240" y="2276856"/>
            <a:ext cx="3502152" cy="36576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Monthly consolidated reports</a:t>
            </a:r>
            <a:endParaRPr lang="en-US" sz="1100" dirty="0"/>
          </a:p>
        </p:txBody>
      </p:sp>
      <p:sp>
        <p:nvSpPr>
          <p:cNvPr id="34" name="Shape 32"/>
          <p:cNvSpPr/>
          <p:nvPr/>
        </p:nvSpPr>
        <p:spPr>
          <a:xfrm>
            <a:off x="4754880" y="2862072"/>
            <a:ext cx="4206240" cy="914400"/>
          </a:xfrm>
          <a:prstGeom prst="roundRect">
            <a:avLst>
              <a:gd name="adj" fmla="val 7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35" name="Shape 33"/>
          <p:cNvSpPr/>
          <p:nvPr/>
        </p:nvSpPr>
        <p:spPr>
          <a:xfrm>
            <a:off x="4828032" y="3118104"/>
            <a:ext cx="402336" cy="402336"/>
          </a:xfrm>
          <a:prstGeom prst="roundRect">
            <a:avLst>
              <a:gd name="adj" fmla="val 9091"/>
            </a:avLst>
          </a:prstGeom>
          <a:solidFill>
            <a:srgbClr val="C0392B"/>
          </a:solidFill>
          <a:ln w="12700">
            <a:solidFill>
              <a:srgbClr val="C0392B"/>
            </a:solidFill>
            <a:prstDash val="solid"/>
          </a:ln>
        </p:spPr>
      </p:sp>
      <p:sp>
        <p:nvSpPr>
          <p:cNvPr id="36" name="Text 34"/>
          <p:cNvSpPr/>
          <p:nvPr/>
        </p:nvSpPr>
        <p:spPr>
          <a:xfrm>
            <a:off x="4828032" y="3108960"/>
            <a:ext cx="402336" cy="402336"/>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37" name="Text 35"/>
          <p:cNvSpPr/>
          <p:nvPr/>
        </p:nvSpPr>
        <p:spPr>
          <a:xfrm>
            <a:off x="5349240" y="2935224"/>
            <a:ext cx="3502152" cy="347472"/>
          </a:xfrm>
          <a:prstGeom prst="rect">
            <a:avLst/>
          </a:prstGeom>
          <a:noFill/>
          <a:ln/>
        </p:spPr>
        <p:txBody>
          <a:bodyPr wrap="square" rtlCol="0" anchor="ctr"/>
          <a:lstStyle/>
          <a:p>
            <a:pPr marL="0" indent="0">
              <a:buNone/>
            </a:pPr>
            <a:r>
              <a:rPr lang="en-US" sz="1200" b="1" dirty="0">
                <a:solidFill>
                  <a:srgbClr val="C0392B"/>
                </a:solidFill>
                <a:latin typeface="Courier New" pitchFamily="34" charset="0"/>
                <a:ea typeface="Courier New" pitchFamily="34" charset="-122"/>
                <a:cs typeface="Courier New" pitchFamily="34" charset="-120"/>
              </a:rPr>
              <a:t>FundOps/Exceptions/</a:t>
            </a:r>
            <a:endParaRPr lang="en-US" sz="1200" dirty="0"/>
          </a:p>
        </p:txBody>
      </p:sp>
      <p:sp>
        <p:nvSpPr>
          <p:cNvPr id="38" name="Text 36"/>
          <p:cNvSpPr/>
          <p:nvPr/>
        </p:nvSpPr>
        <p:spPr>
          <a:xfrm>
            <a:off x="5349240" y="3319272"/>
            <a:ext cx="3502152" cy="36576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Exception and error files — requires review</a:t>
            </a:r>
            <a:endParaRPr lang="en-US" sz="1100" dirty="0"/>
          </a:p>
        </p:txBody>
      </p:sp>
      <p:sp>
        <p:nvSpPr>
          <p:cNvPr id="39" name="Shape 37"/>
          <p:cNvSpPr/>
          <p:nvPr/>
        </p:nvSpPr>
        <p:spPr>
          <a:xfrm>
            <a:off x="4754880" y="3904488"/>
            <a:ext cx="4206240" cy="914400"/>
          </a:xfrm>
          <a:prstGeom prst="roundRect">
            <a:avLst>
              <a:gd name="adj" fmla="val 7000"/>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40" name="Shape 38"/>
          <p:cNvSpPr/>
          <p:nvPr/>
        </p:nvSpPr>
        <p:spPr>
          <a:xfrm>
            <a:off x="4828032" y="4160520"/>
            <a:ext cx="402336" cy="402336"/>
          </a:xfrm>
          <a:prstGeom prst="roundRect">
            <a:avLst>
              <a:gd name="adj" fmla="val 9091"/>
            </a:avLst>
          </a:prstGeom>
          <a:solidFill>
            <a:srgbClr val="E67E22"/>
          </a:solidFill>
          <a:ln w="12700">
            <a:solidFill>
              <a:srgbClr val="E67E22"/>
            </a:solidFill>
            <a:prstDash val="solid"/>
          </a:ln>
        </p:spPr>
      </p:sp>
      <p:sp>
        <p:nvSpPr>
          <p:cNvPr id="41" name="Text 39"/>
          <p:cNvSpPr/>
          <p:nvPr/>
        </p:nvSpPr>
        <p:spPr>
          <a:xfrm>
            <a:off x="4828032" y="4151376"/>
            <a:ext cx="402336" cy="402336"/>
          </a:xfrm>
          <a:prstGeom prst="rect">
            <a:avLst/>
          </a:prstGeom>
          <a:noFill/>
          <a:ln/>
        </p:spPr>
        <p:txBody>
          <a:bodyPr wrap="square" rtlCol="0" anchor="ctr"/>
          <a:lstStyle/>
          <a:p>
            <a:pPr marL="0" indent="0" algn="ctr">
              <a:buNone/>
            </a:pPr>
            <a:r>
              <a:rPr lang="en-US" sz="1400" dirty="0">
                <a:solidFill>
                  <a:srgbClr val="000000"/>
                </a:solidFill>
              </a:rPr>
              <a:t>📁</a:t>
            </a:r>
            <a:endParaRPr lang="en-US" sz="1400" dirty="0"/>
          </a:p>
        </p:txBody>
      </p:sp>
      <p:sp>
        <p:nvSpPr>
          <p:cNvPr id="42" name="Text 40"/>
          <p:cNvSpPr/>
          <p:nvPr/>
        </p:nvSpPr>
        <p:spPr>
          <a:xfrm>
            <a:off x="5349240" y="3977640"/>
            <a:ext cx="3502152" cy="347472"/>
          </a:xfrm>
          <a:prstGeom prst="rect">
            <a:avLst/>
          </a:prstGeom>
          <a:noFill/>
          <a:ln/>
        </p:spPr>
        <p:txBody>
          <a:bodyPr wrap="square" rtlCol="0" anchor="ctr"/>
          <a:lstStyle/>
          <a:p>
            <a:pPr marL="0" indent="0">
              <a:buNone/>
            </a:pPr>
            <a:r>
              <a:rPr lang="en-US" sz="1200" b="1" dirty="0">
                <a:solidFill>
                  <a:srgbClr val="E67E22"/>
                </a:solidFill>
                <a:latin typeface="Courier New" pitchFamily="34" charset="0"/>
                <a:ea typeface="Courier New" pitchFamily="34" charset="-122"/>
                <a:cs typeface="Courier New" pitchFamily="34" charset="-120"/>
              </a:rPr>
              <a:t>FundOps/Audit/</a:t>
            </a:r>
            <a:endParaRPr lang="en-US" sz="1200" dirty="0"/>
          </a:p>
        </p:txBody>
      </p:sp>
      <p:sp>
        <p:nvSpPr>
          <p:cNvPr id="43" name="Text 41"/>
          <p:cNvSpPr/>
          <p:nvPr/>
        </p:nvSpPr>
        <p:spPr>
          <a:xfrm>
            <a:off x="5349240" y="4361688"/>
            <a:ext cx="3502152" cy="36576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Immutable audit logs (read-only for automation)</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3">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14</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SharePoint Integration</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Automate file movement across SharePoint folders using Microsoft Graph API</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Create lab14_sharepoint_integration.py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Reuse the Graph API token from Lab 4</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Prompt Copilot: 'Write Python code using Microsoft Graph API to list files in a SharePoint folder'</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Test: list files in the FundOps/Input/ folder</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Prompt Copilot: 'Write a function to upload a file to a specific SharePoint folder using Graph API'</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Upload your Lab 9 reconciliation output to FundOps/Reports/Daily/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Prompt Copilot: 'Write a function to move a file from one SharePoint folder to another (Input → Processed)'</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Build the complete file lifecycle: download from Input → process → upload report → move to Processed</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9.  Add an audit log entry to FundOps/Audit/ with the processing summary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10.  BONUS: Set SharePoint file metadata properties (FundName, NAVDate, ProcessingStatus)</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4">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DAY 2  •  LAB 15</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End-to-End Automation Platform</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Connecting all 14 labs into one orchestrated daily pipeline</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5">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The Complete Fund Operations Automation Platform</a:t>
            </a:r>
            <a:endParaRPr lang="en-US" sz="2000" dirty="0"/>
          </a:p>
        </p:txBody>
      </p:sp>
      <p:sp>
        <p:nvSpPr>
          <p:cNvPr id="4" name="Shape 2"/>
          <p:cNvSpPr/>
          <p:nvPr/>
        </p:nvSpPr>
        <p:spPr>
          <a:xfrm>
            <a:off x="256032" y="777240"/>
            <a:ext cx="1581912" cy="1417320"/>
          </a:xfrm>
          <a:prstGeom prst="roundRect">
            <a:avLst>
              <a:gd name="adj" fmla="val 6452"/>
            </a:avLst>
          </a:prstGeom>
          <a:solidFill>
            <a:srgbClr val="1A2E4A"/>
          </a:solidFill>
          <a:ln w="12700">
            <a:solidFill>
              <a:srgbClr val="1A2E4A"/>
            </a:solidFill>
            <a:prstDash val="solid"/>
          </a:ln>
          <a:effectLst>
            <a:outerShdw blurRad="101600" dist="38100" dir="2700000" algn="bl" rotWithShape="0">
              <a:srgbClr val="000000">
                <a:alpha val="12000"/>
              </a:srgbClr>
            </a:outerShdw>
          </a:effectLst>
        </p:spPr>
      </p:sp>
      <p:sp>
        <p:nvSpPr>
          <p:cNvPr id="5" name="Shape 3"/>
          <p:cNvSpPr/>
          <p:nvPr/>
        </p:nvSpPr>
        <p:spPr>
          <a:xfrm>
            <a:off x="813816" y="850392"/>
            <a:ext cx="457200" cy="457200"/>
          </a:xfrm>
          <a:prstGeom prst="ellipse">
            <a:avLst/>
          </a:prstGeom>
          <a:solidFill>
            <a:srgbClr val="FFFFFF">
              <a:alpha val="70000"/>
            </a:srgbClr>
          </a:solidFill>
          <a:ln w="12700">
            <a:solidFill>
              <a:srgbClr val="FFFFFF"/>
            </a:solidFill>
            <a:prstDash val="solid"/>
          </a:ln>
        </p:spPr>
      </p:sp>
      <p:sp>
        <p:nvSpPr>
          <p:cNvPr id="6" name="Text 4"/>
          <p:cNvSpPr/>
          <p:nvPr/>
        </p:nvSpPr>
        <p:spPr>
          <a:xfrm>
            <a:off x="813816" y="868680"/>
            <a:ext cx="4572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256032" y="1344168"/>
            <a:ext cx="1581912" cy="78638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Email Arrives</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(Outlook)</a:t>
            </a:r>
            <a:endParaRPr lang="en-US" sz="1050" dirty="0"/>
          </a:p>
        </p:txBody>
      </p:sp>
      <p:sp>
        <p:nvSpPr>
          <p:cNvPr id="8" name="Shape 6"/>
          <p:cNvSpPr/>
          <p:nvPr/>
        </p:nvSpPr>
        <p:spPr>
          <a:xfrm>
            <a:off x="1837944" y="1481328"/>
            <a:ext cx="173736" cy="0"/>
          </a:xfrm>
          <a:prstGeom prst="line">
            <a:avLst/>
          </a:prstGeom>
          <a:noFill/>
          <a:ln w="25400">
            <a:solidFill>
              <a:srgbClr val="F0A500"/>
            </a:solidFill>
            <a:prstDash val="solid"/>
          </a:ln>
        </p:spPr>
      </p:sp>
      <p:sp>
        <p:nvSpPr>
          <p:cNvPr id="9" name="Shape 7"/>
          <p:cNvSpPr/>
          <p:nvPr/>
        </p:nvSpPr>
        <p:spPr>
          <a:xfrm>
            <a:off x="2011680" y="777240"/>
            <a:ext cx="1581912" cy="1417320"/>
          </a:xfrm>
          <a:prstGeom prst="roundRect">
            <a:avLst>
              <a:gd name="adj" fmla="val 6452"/>
            </a:avLst>
          </a:prstGeom>
          <a:solidFill>
            <a:srgbClr val="6B46C1"/>
          </a:solidFill>
          <a:ln w="12700">
            <a:solidFill>
              <a:srgbClr val="6B46C1"/>
            </a:solidFill>
            <a:prstDash val="solid"/>
          </a:ln>
          <a:effectLst>
            <a:outerShdw blurRad="101600" dist="38100" dir="2700000" algn="bl" rotWithShape="0">
              <a:srgbClr val="000000">
                <a:alpha val="12000"/>
              </a:srgbClr>
            </a:outerShdw>
          </a:effectLst>
        </p:spPr>
      </p:sp>
      <p:sp>
        <p:nvSpPr>
          <p:cNvPr id="10" name="Shape 8"/>
          <p:cNvSpPr/>
          <p:nvPr/>
        </p:nvSpPr>
        <p:spPr>
          <a:xfrm>
            <a:off x="2569464" y="850392"/>
            <a:ext cx="457200" cy="457200"/>
          </a:xfrm>
          <a:prstGeom prst="ellipse">
            <a:avLst/>
          </a:prstGeom>
          <a:solidFill>
            <a:srgbClr val="FFFFFF">
              <a:alpha val="70000"/>
            </a:srgbClr>
          </a:solidFill>
          <a:ln w="12700">
            <a:solidFill>
              <a:srgbClr val="FFFFFF"/>
            </a:solidFill>
            <a:prstDash val="solid"/>
          </a:ln>
        </p:spPr>
      </p:sp>
      <p:sp>
        <p:nvSpPr>
          <p:cNvPr id="11" name="Text 9"/>
          <p:cNvSpPr/>
          <p:nvPr/>
        </p:nvSpPr>
        <p:spPr>
          <a:xfrm>
            <a:off x="2569464" y="868680"/>
            <a:ext cx="4572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2011680" y="1344168"/>
            <a:ext cx="1581912" cy="78638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Download</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Attachment</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(Lab 4)</a:t>
            </a:r>
            <a:endParaRPr lang="en-US" sz="1050" dirty="0"/>
          </a:p>
        </p:txBody>
      </p:sp>
      <p:sp>
        <p:nvSpPr>
          <p:cNvPr id="13" name="Shape 11"/>
          <p:cNvSpPr/>
          <p:nvPr/>
        </p:nvSpPr>
        <p:spPr>
          <a:xfrm>
            <a:off x="3593592" y="1481328"/>
            <a:ext cx="173736" cy="0"/>
          </a:xfrm>
          <a:prstGeom prst="line">
            <a:avLst/>
          </a:prstGeom>
          <a:noFill/>
          <a:ln w="25400">
            <a:solidFill>
              <a:srgbClr val="F0A500"/>
            </a:solidFill>
            <a:prstDash val="solid"/>
          </a:ln>
        </p:spPr>
      </p:sp>
      <p:sp>
        <p:nvSpPr>
          <p:cNvPr id="14" name="Shape 12"/>
          <p:cNvSpPr/>
          <p:nvPr/>
        </p:nvSpPr>
        <p:spPr>
          <a:xfrm>
            <a:off x="3767328" y="777240"/>
            <a:ext cx="1581912" cy="1417320"/>
          </a:xfrm>
          <a:prstGeom prst="roundRect">
            <a:avLst>
              <a:gd name="adj" fmla="val 6452"/>
            </a:avLst>
          </a:prstGeom>
          <a:solidFill>
            <a:srgbClr val="0D7C66"/>
          </a:solidFill>
          <a:ln w="12700">
            <a:solidFill>
              <a:srgbClr val="0D7C66"/>
            </a:solidFill>
            <a:prstDash val="solid"/>
          </a:ln>
          <a:effectLst>
            <a:outerShdw blurRad="101600" dist="38100" dir="2700000" algn="bl" rotWithShape="0">
              <a:srgbClr val="000000">
                <a:alpha val="12000"/>
              </a:srgbClr>
            </a:outerShdw>
          </a:effectLst>
        </p:spPr>
      </p:sp>
      <p:sp>
        <p:nvSpPr>
          <p:cNvPr id="15" name="Shape 13"/>
          <p:cNvSpPr/>
          <p:nvPr/>
        </p:nvSpPr>
        <p:spPr>
          <a:xfrm>
            <a:off x="4325112" y="850392"/>
            <a:ext cx="457200" cy="457200"/>
          </a:xfrm>
          <a:prstGeom prst="ellipse">
            <a:avLst/>
          </a:prstGeom>
          <a:solidFill>
            <a:srgbClr val="FFFFFF">
              <a:alpha val="70000"/>
            </a:srgbClr>
          </a:solidFill>
          <a:ln w="12700">
            <a:solidFill>
              <a:srgbClr val="FFFFFF"/>
            </a:solidFill>
            <a:prstDash val="solid"/>
          </a:ln>
        </p:spPr>
      </p:sp>
      <p:sp>
        <p:nvSpPr>
          <p:cNvPr id="16" name="Text 14"/>
          <p:cNvSpPr/>
          <p:nvPr/>
        </p:nvSpPr>
        <p:spPr>
          <a:xfrm>
            <a:off x="4325112" y="868680"/>
            <a:ext cx="4572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3767328" y="1344168"/>
            <a:ext cx="1581912" cy="78638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Validate</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File</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(Lab 13)</a:t>
            </a:r>
            <a:endParaRPr lang="en-US" sz="1050" dirty="0"/>
          </a:p>
        </p:txBody>
      </p:sp>
      <p:sp>
        <p:nvSpPr>
          <p:cNvPr id="18" name="Shape 16"/>
          <p:cNvSpPr/>
          <p:nvPr/>
        </p:nvSpPr>
        <p:spPr>
          <a:xfrm>
            <a:off x="5349240" y="1481328"/>
            <a:ext cx="173736" cy="0"/>
          </a:xfrm>
          <a:prstGeom prst="line">
            <a:avLst/>
          </a:prstGeom>
          <a:noFill/>
          <a:ln w="25400">
            <a:solidFill>
              <a:srgbClr val="F0A500"/>
            </a:solidFill>
            <a:prstDash val="solid"/>
          </a:ln>
        </p:spPr>
      </p:sp>
      <p:sp>
        <p:nvSpPr>
          <p:cNvPr id="19" name="Shape 17"/>
          <p:cNvSpPr/>
          <p:nvPr/>
        </p:nvSpPr>
        <p:spPr>
          <a:xfrm>
            <a:off x="5522976" y="777240"/>
            <a:ext cx="1581912" cy="1417320"/>
          </a:xfrm>
          <a:prstGeom prst="roundRect">
            <a:avLst>
              <a:gd name="adj" fmla="val 6452"/>
            </a:avLst>
          </a:prstGeom>
          <a:solidFill>
            <a:srgbClr val="2980B9"/>
          </a:solidFill>
          <a:ln w="12700">
            <a:solidFill>
              <a:srgbClr val="2980B9"/>
            </a:solidFill>
            <a:prstDash val="solid"/>
          </a:ln>
          <a:effectLst>
            <a:outerShdw blurRad="101600" dist="38100" dir="2700000" algn="bl" rotWithShape="0">
              <a:srgbClr val="000000">
                <a:alpha val="12000"/>
              </a:srgbClr>
            </a:outerShdw>
          </a:effectLst>
        </p:spPr>
      </p:sp>
      <p:sp>
        <p:nvSpPr>
          <p:cNvPr id="20" name="Shape 18"/>
          <p:cNvSpPr/>
          <p:nvPr/>
        </p:nvSpPr>
        <p:spPr>
          <a:xfrm>
            <a:off x="6080760" y="850392"/>
            <a:ext cx="457200" cy="457200"/>
          </a:xfrm>
          <a:prstGeom prst="ellipse">
            <a:avLst/>
          </a:prstGeom>
          <a:solidFill>
            <a:srgbClr val="FFFFFF">
              <a:alpha val="70000"/>
            </a:srgbClr>
          </a:solidFill>
          <a:ln w="12700">
            <a:solidFill>
              <a:srgbClr val="FFFFFF"/>
            </a:solidFill>
            <a:prstDash val="solid"/>
          </a:ln>
        </p:spPr>
      </p:sp>
      <p:sp>
        <p:nvSpPr>
          <p:cNvPr id="21" name="Text 19"/>
          <p:cNvSpPr/>
          <p:nvPr/>
        </p:nvSpPr>
        <p:spPr>
          <a:xfrm>
            <a:off x="6080760" y="868680"/>
            <a:ext cx="4572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5522976" y="1344168"/>
            <a:ext cx="1581912" cy="78638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Save to</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SharePoint</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(Lab 14)</a:t>
            </a:r>
            <a:endParaRPr lang="en-US" sz="1050" dirty="0"/>
          </a:p>
        </p:txBody>
      </p:sp>
      <p:sp>
        <p:nvSpPr>
          <p:cNvPr id="23" name="Shape 21"/>
          <p:cNvSpPr/>
          <p:nvPr/>
        </p:nvSpPr>
        <p:spPr>
          <a:xfrm>
            <a:off x="7104888" y="1481328"/>
            <a:ext cx="173736" cy="0"/>
          </a:xfrm>
          <a:prstGeom prst="line">
            <a:avLst/>
          </a:prstGeom>
          <a:noFill/>
          <a:ln w="25400">
            <a:solidFill>
              <a:srgbClr val="F0A500"/>
            </a:solidFill>
            <a:prstDash val="solid"/>
          </a:ln>
        </p:spPr>
      </p:sp>
      <p:sp>
        <p:nvSpPr>
          <p:cNvPr id="24" name="Shape 22"/>
          <p:cNvSpPr/>
          <p:nvPr/>
        </p:nvSpPr>
        <p:spPr>
          <a:xfrm>
            <a:off x="7278624" y="777240"/>
            <a:ext cx="1581912" cy="1417320"/>
          </a:xfrm>
          <a:prstGeom prst="roundRect">
            <a:avLst>
              <a:gd name="adj" fmla="val 6452"/>
            </a:avLst>
          </a:prstGeom>
          <a:solidFill>
            <a:srgbClr val="E67E22"/>
          </a:solidFill>
          <a:ln w="12700">
            <a:solidFill>
              <a:srgbClr val="E67E22"/>
            </a:solidFill>
            <a:prstDash val="solid"/>
          </a:ln>
          <a:effectLst>
            <a:outerShdw blurRad="101600" dist="38100" dir="2700000" algn="bl" rotWithShape="0">
              <a:srgbClr val="000000">
                <a:alpha val="12000"/>
              </a:srgbClr>
            </a:outerShdw>
          </a:effectLst>
        </p:spPr>
      </p:sp>
      <p:sp>
        <p:nvSpPr>
          <p:cNvPr id="25" name="Shape 23"/>
          <p:cNvSpPr/>
          <p:nvPr/>
        </p:nvSpPr>
        <p:spPr>
          <a:xfrm>
            <a:off x="7836408" y="850392"/>
            <a:ext cx="457200" cy="457200"/>
          </a:xfrm>
          <a:prstGeom prst="ellipse">
            <a:avLst/>
          </a:prstGeom>
          <a:solidFill>
            <a:srgbClr val="FFFFFF">
              <a:alpha val="70000"/>
            </a:srgbClr>
          </a:solidFill>
          <a:ln w="12700">
            <a:solidFill>
              <a:srgbClr val="FFFFFF"/>
            </a:solidFill>
            <a:prstDash val="solid"/>
          </a:ln>
        </p:spPr>
      </p:sp>
      <p:sp>
        <p:nvSpPr>
          <p:cNvPr id="26" name="Text 24"/>
          <p:cNvSpPr/>
          <p:nvPr/>
        </p:nvSpPr>
        <p:spPr>
          <a:xfrm>
            <a:off x="7836408" y="868680"/>
            <a:ext cx="4572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7278624" y="1344168"/>
            <a:ext cx="1581912" cy="78638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Duplicate</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Check</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(Lab 7)</a:t>
            </a:r>
            <a:endParaRPr lang="en-US" sz="1050" dirty="0"/>
          </a:p>
        </p:txBody>
      </p:sp>
      <p:sp>
        <p:nvSpPr>
          <p:cNvPr id="28" name="Shape 26"/>
          <p:cNvSpPr/>
          <p:nvPr/>
        </p:nvSpPr>
        <p:spPr>
          <a:xfrm>
            <a:off x="256032" y="2606040"/>
            <a:ext cx="1581912" cy="1417320"/>
          </a:xfrm>
          <a:prstGeom prst="roundRect">
            <a:avLst>
              <a:gd name="adj" fmla="val 6452"/>
            </a:avLst>
          </a:prstGeom>
          <a:solidFill>
            <a:srgbClr val="27AE60"/>
          </a:solidFill>
          <a:ln w="12700">
            <a:solidFill>
              <a:srgbClr val="27AE60"/>
            </a:solidFill>
            <a:prstDash val="solid"/>
          </a:ln>
          <a:effectLst>
            <a:outerShdw blurRad="101600" dist="38100" dir="2700000" algn="bl" rotWithShape="0">
              <a:srgbClr val="000000">
                <a:alpha val="12000"/>
              </a:srgbClr>
            </a:outerShdw>
          </a:effectLst>
        </p:spPr>
      </p:sp>
      <p:sp>
        <p:nvSpPr>
          <p:cNvPr id="29" name="Shape 27"/>
          <p:cNvSpPr/>
          <p:nvPr/>
        </p:nvSpPr>
        <p:spPr>
          <a:xfrm>
            <a:off x="813816" y="2679192"/>
            <a:ext cx="457200" cy="457200"/>
          </a:xfrm>
          <a:prstGeom prst="ellipse">
            <a:avLst/>
          </a:prstGeom>
          <a:solidFill>
            <a:srgbClr val="FFFFFF">
              <a:alpha val="70000"/>
            </a:srgbClr>
          </a:solidFill>
          <a:ln w="12700">
            <a:solidFill>
              <a:srgbClr val="FFFFFF"/>
            </a:solidFill>
            <a:prstDash val="solid"/>
          </a:ln>
        </p:spPr>
      </p:sp>
      <p:sp>
        <p:nvSpPr>
          <p:cNvPr id="30" name="Text 28"/>
          <p:cNvSpPr/>
          <p:nvPr/>
        </p:nvSpPr>
        <p:spPr>
          <a:xfrm>
            <a:off x="813816" y="2697480"/>
            <a:ext cx="4572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1" name="Text 29"/>
          <p:cNvSpPr/>
          <p:nvPr/>
        </p:nvSpPr>
        <p:spPr>
          <a:xfrm>
            <a:off x="256032" y="3172968"/>
            <a:ext cx="1581912" cy="78638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Extract</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Excel/PDF</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(Labs 2,3,8)</a:t>
            </a:r>
            <a:endParaRPr lang="en-US" sz="1050" dirty="0"/>
          </a:p>
        </p:txBody>
      </p:sp>
      <p:sp>
        <p:nvSpPr>
          <p:cNvPr id="32" name="Shape 30"/>
          <p:cNvSpPr/>
          <p:nvPr/>
        </p:nvSpPr>
        <p:spPr>
          <a:xfrm>
            <a:off x="1837944" y="3310128"/>
            <a:ext cx="173736" cy="0"/>
          </a:xfrm>
          <a:prstGeom prst="line">
            <a:avLst/>
          </a:prstGeom>
          <a:noFill/>
          <a:ln w="25400">
            <a:solidFill>
              <a:srgbClr val="F0A500"/>
            </a:solidFill>
            <a:prstDash val="solid"/>
          </a:ln>
        </p:spPr>
      </p:sp>
      <p:sp>
        <p:nvSpPr>
          <p:cNvPr id="33" name="Shape 31"/>
          <p:cNvSpPr/>
          <p:nvPr/>
        </p:nvSpPr>
        <p:spPr>
          <a:xfrm>
            <a:off x="2011680" y="2606040"/>
            <a:ext cx="1581912" cy="1417320"/>
          </a:xfrm>
          <a:prstGeom prst="roundRect">
            <a:avLst>
              <a:gd name="adj" fmla="val 6452"/>
            </a:avLst>
          </a:prstGeom>
          <a:solidFill>
            <a:srgbClr val="C0392B"/>
          </a:solidFill>
          <a:ln w="12700">
            <a:solidFill>
              <a:srgbClr val="C0392B"/>
            </a:solidFill>
            <a:prstDash val="solid"/>
          </a:ln>
          <a:effectLst>
            <a:outerShdw blurRad="101600" dist="38100" dir="2700000" algn="bl" rotWithShape="0">
              <a:srgbClr val="000000">
                <a:alpha val="12000"/>
              </a:srgbClr>
            </a:outerShdw>
          </a:effectLst>
        </p:spPr>
      </p:sp>
      <p:sp>
        <p:nvSpPr>
          <p:cNvPr id="34" name="Shape 32"/>
          <p:cNvSpPr/>
          <p:nvPr/>
        </p:nvSpPr>
        <p:spPr>
          <a:xfrm>
            <a:off x="2569464" y="2679192"/>
            <a:ext cx="457200" cy="457200"/>
          </a:xfrm>
          <a:prstGeom prst="ellipse">
            <a:avLst/>
          </a:prstGeom>
          <a:solidFill>
            <a:srgbClr val="FFFFFF">
              <a:alpha val="70000"/>
            </a:srgbClr>
          </a:solidFill>
          <a:ln w="12700">
            <a:solidFill>
              <a:srgbClr val="FFFFFF"/>
            </a:solidFill>
            <a:prstDash val="solid"/>
          </a:ln>
        </p:spPr>
      </p:sp>
      <p:sp>
        <p:nvSpPr>
          <p:cNvPr id="35" name="Text 33"/>
          <p:cNvSpPr/>
          <p:nvPr/>
        </p:nvSpPr>
        <p:spPr>
          <a:xfrm>
            <a:off x="2569464" y="2697480"/>
            <a:ext cx="4572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6" name="Text 34"/>
          <p:cNvSpPr/>
          <p:nvPr/>
        </p:nvSpPr>
        <p:spPr>
          <a:xfrm>
            <a:off x="2011680" y="3172968"/>
            <a:ext cx="1581912" cy="78638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Reconcile</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vs SQL</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(Labs 9,10)</a:t>
            </a:r>
            <a:endParaRPr lang="en-US" sz="1050" dirty="0"/>
          </a:p>
        </p:txBody>
      </p:sp>
      <p:sp>
        <p:nvSpPr>
          <p:cNvPr id="37" name="Shape 35"/>
          <p:cNvSpPr/>
          <p:nvPr/>
        </p:nvSpPr>
        <p:spPr>
          <a:xfrm>
            <a:off x="3593592" y="3310128"/>
            <a:ext cx="173736" cy="0"/>
          </a:xfrm>
          <a:prstGeom prst="line">
            <a:avLst/>
          </a:prstGeom>
          <a:noFill/>
          <a:ln w="25400">
            <a:solidFill>
              <a:srgbClr val="F0A500"/>
            </a:solidFill>
            <a:prstDash val="solid"/>
          </a:ln>
        </p:spPr>
      </p:sp>
      <p:sp>
        <p:nvSpPr>
          <p:cNvPr id="38" name="Shape 36"/>
          <p:cNvSpPr/>
          <p:nvPr/>
        </p:nvSpPr>
        <p:spPr>
          <a:xfrm>
            <a:off x="3767328" y="2606040"/>
            <a:ext cx="1581912" cy="1417320"/>
          </a:xfrm>
          <a:prstGeom prst="roundRect">
            <a:avLst>
              <a:gd name="adj" fmla="val 6452"/>
            </a:avLst>
          </a:prstGeom>
          <a:solidFill>
            <a:srgbClr val="8B5CF6"/>
          </a:solidFill>
          <a:ln w="12700">
            <a:solidFill>
              <a:srgbClr val="8B5CF6"/>
            </a:solidFill>
            <a:prstDash val="solid"/>
          </a:ln>
          <a:effectLst>
            <a:outerShdw blurRad="101600" dist="38100" dir="2700000" algn="bl" rotWithShape="0">
              <a:srgbClr val="000000">
                <a:alpha val="12000"/>
              </a:srgbClr>
            </a:outerShdw>
          </a:effectLst>
        </p:spPr>
      </p:sp>
      <p:sp>
        <p:nvSpPr>
          <p:cNvPr id="39" name="Shape 37"/>
          <p:cNvSpPr/>
          <p:nvPr/>
        </p:nvSpPr>
        <p:spPr>
          <a:xfrm>
            <a:off x="4325112" y="2679192"/>
            <a:ext cx="457200" cy="457200"/>
          </a:xfrm>
          <a:prstGeom prst="ellipse">
            <a:avLst/>
          </a:prstGeom>
          <a:solidFill>
            <a:srgbClr val="FFFFFF">
              <a:alpha val="70000"/>
            </a:srgbClr>
          </a:solidFill>
          <a:ln w="12700">
            <a:solidFill>
              <a:srgbClr val="FFFFFF"/>
            </a:solidFill>
            <a:prstDash val="solid"/>
          </a:ln>
        </p:spPr>
      </p:sp>
      <p:sp>
        <p:nvSpPr>
          <p:cNvPr id="40" name="Text 38"/>
          <p:cNvSpPr/>
          <p:nvPr/>
        </p:nvSpPr>
        <p:spPr>
          <a:xfrm>
            <a:off x="4325112" y="2697480"/>
            <a:ext cx="4572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1" name="Text 39"/>
          <p:cNvSpPr/>
          <p:nvPr/>
        </p:nvSpPr>
        <p:spPr>
          <a:xfrm>
            <a:off x="3767328" y="3172968"/>
            <a:ext cx="1581912" cy="78638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Exception</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Engine</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(Lab 12)</a:t>
            </a:r>
            <a:endParaRPr lang="en-US" sz="1050" dirty="0"/>
          </a:p>
        </p:txBody>
      </p:sp>
      <p:sp>
        <p:nvSpPr>
          <p:cNvPr id="42" name="Shape 40"/>
          <p:cNvSpPr/>
          <p:nvPr/>
        </p:nvSpPr>
        <p:spPr>
          <a:xfrm>
            <a:off x="5349240" y="3310128"/>
            <a:ext cx="173736" cy="0"/>
          </a:xfrm>
          <a:prstGeom prst="line">
            <a:avLst/>
          </a:prstGeom>
          <a:noFill/>
          <a:ln w="25400">
            <a:solidFill>
              <a:srgbClr val="F0A500"/>
            </a:solidFill>
            <a:prstDash val="solid"/>
          </a:ln>
        </p:spPr>
      </p:sp>
      <p:sp>
        <p:nvSpPr>
          <p:cNvPr id="43" name="Shape 41"/>
          <p:cNvSpPr/>
          <p:nvPr/>
        </p:nvSpPr>
        <p:spPr>
          <a:xfrm>
            <a:off x="5522976" y="2606040"/>
            <a:ext cx="1581912" cy="1417320"/>
          </a:xfrm>
          <a:prstGeom prst="roundRect">
            <a:avLst>
              <a:gd name="adj" fmla="val 6452"/>
            </a:avLst>
          </a:prstGeom>
          <a:solidFill>
            <a:srgbClr val="0D7C66"/>
          </a:solidFill>
          <a:ln w="12700">
            <a:solidFill>
              <a:srgbClr val="0D7C66"/>
            </a:solidFill>
            <a:prstDash val="solid"/>
          </a:ln>
          <a:effectLst>
            <a:outerShdw blurRad="101600" dist="38100" dir="2700000" algn="bl" rotWithShape="0">
              <a:srgbClr val="000000">
                <a:alpha val="12000"/>
              </a:srgbClr>
            </a:outerShdw>
          </a:effectLst>
        </p:spPr>
      </p:sp>
      <p:sp>
        <p:nvSpPr>
          <p:cNvPr id="44" name="Shape 42"/>
          <p:cNvSpPr/>
          <p:nvPr/>
        </p:nvSpPr>
        <p:spPr>
          <a:xfrm>
            <a:off x="6080760" y="2679192"/>
            <a:ext cx="457200" cy="457200"/>
          </a:xfrm>
          <a:prstGeom prst="ellipse">
            <a:avLst/>
          </a:prstGeom>
          <a:solidFill>
            <a:srgbClr val="FFFFFF">
              <a:alpha val="70000"/>
            </a:srgbClr>
          </a:solidFill>
          <a:ln w="12700">
            <a:solidFill>
              <a:srgbClr val="FFFFFF"/>
            </a:solidFill>
            <a:prstDash val="solid"/>
          </a:ln>
        </p:spPr>
      </p:sp>
      <p:sp>
        <p:nvSpPr>
          <p:cNvPr id="45" name="Text 43"/>
          <p:cNvSpPr/>
          <p:nvPr/>
        </p:nvSpPr>
        <p:spPr>
          <a:xfrm>
            <a:off x="6080760" y="2697480"/>
            <a:ext cx="4572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6" name="Text 44"/>
          <p:cNvSpPr/>
          <p:nvPr/>
        </p:nvSpPr>
        <p:spPr>
          <a:xfrm>
            <a:off x="5522976" y="3172968"/>
            <a:ext cx="1581912" cy="78638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Report &amp;</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Audit</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(Labs 6,11)</a:t>
            </a:r>
            <a:endParaRPr lang="en-US" sz="1050" dirty="0"/>
          </a:p>
        </p:txBody>
      </p:sp>
      <p:sp>
        <p:nvSpPr>
          <p:cNvPr id="47" name="Text 45"/>
          <p:cNvSpPr/>
          <p:nvPr/>
        </p:nvSpPr>
        <p:spPr>
          <a:xfrm>
            <a:off x="274320" y="4370832"/>
            <a:ext cx="8595360" cy="457200"/>
          </a:xfrm>
          <a:prstGeom prst="rect">
            <a:avLst/>
          </a:prstGeom>
          <a:noFill/>
          <a:ln/>
        </p:spPr>
        <p:txBody>
          <a:bodyPr wrap="square" rtlCol="0" anchor="ctr"/>
          <a:lstStyle/>
          <a:p>
            <a:pPr marL="0" indent="0" algn="ctr">
              <a:buNone/>
            </a:pPr>
            <a:r>
              <a:rPr lang="en-US" sz="1200" i="1" dirty="0">
                <a:solidFill>
                  <a:srgbClr val="0D7C66"/>
                </a:solidFill>
                <a:latin typeface="Calibri" pitchFamily="34" charset="0"/>
                <a:ea typeface="Calibri" pitchFamily="34" charset="-122"/>
                <a:cs typeface="Calibri" pitchFamily="34" charset="-120"/>
              </a:rPr>
              <a:t>Every step is logged. Every exception is tracked. Every file has an audit trail. Runs automatically every morning.</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6">
    <p:bg>
      <p:bgPr>
        <a:solidFill>
          <a:srgbClr val="1A202C"/>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0A500"/>
          </a:solidFill>
          <a:ln w="12700">
            <a:solidFill>
              <a:srgbClr val="F0A500"/>
            </a:solidFill>
            <a:prstDash val="solid"/>
          </a:ln>
        </p:spPr>
      </p:sp>
      <p:sp>
        <p:nvSpPr>
          <p:cNvPr id="3" name="Text 1"/>
          <p:cNvSpPr/>
          <p:nvPr/>
        </p:nvSpPr>
        <p:spPr>
          <a:xfrm>
            <a:off x="320040" y="91440"/>
            <a:ext cx="1828800" cy="475488"/>
          </a:xfrm>
          <a:prstGeom prst="rect">
            <a:avLst/>
          </a:prstGeom>
          <a:noFill/>
          <a:ln/>
        </p:spPr>
        <p:txBody>
          <a:bodyPr wrap="square" lIns="0" tIns="0" rIns="0" bIns="0" rtlCol="0" anchor="ctr"/>
          <a:lstStyle/>
          <a:p>
            <a:pPr marL="0" indent="0">
              <a:buNone/>
            </a:pPr>
            <a:r>
              <a:rPr lang="en-US" sz="1800" b="1" dirty="0">
                <a:solidFill>
                  <a:srgbClr val="1A202C"/>
                </a:solidFill>
                <a:latin typeface="Calibri" pitchFamily="34" charset="0"/>
                <a:ea typeface="Calibri" pitchFamily="34" charset="-122"/>
                <a:cs typeface="Calibri" pitchFamily="34" charset="-120"/>
              </a:rPr>
              <a:t>LAB 15</a:t>
            </a:r>
            <a:endParaRPr lang="en-US" sz="1800" dirty="0"/>
          </a:p>
        </p:txBody>
      </p:sp>
      <p:sp>
        <p:nvSpPr>
          <p:cNvPr id="4" name="Text 2"/>
          <p:cNvSpPr/>
          <p:nvPr/>
        </p:nvSpPr>
        <p:spPr>
          <a:xfrm>
            <a:off x="2194560" y="91440"/>
            <a:ext cx="6583680" cy="475488"/>
          </a:xfrm>
          <a:prstGeom prst="rect">
            <a:avLst/>
          </a:prstGeom>
          <a:noFill/>
          <a:ln/>
        </p:spPr>
        <p:txBody>
          <a:bodyPr wrap="square" lIns="0" tIns="0" rIns="0" bIns="0" rtlCol="0" anchor="ctr"/>
          <a:lstStyle/>
          <a:p>
            <a:pPr marL="0" indent="0">
              <a:buNone/>
            </a:pPr>
            <a:r>
              <a:rPr lang="en-US" sz="1700" b="1" dirty="0">
                <a:solidFill>
                  <a:srgbClr val="1A202C"/>
                </a:solidFill>
                <a:latin typeface="Calibri" pitchFamily="34" charset="0"/>
                <a:ea typeface="Calibri" pitchFamily="34" charset="-122"/>
                <a:cs typeface="Calibri" pitchFamily="34" charset="-120"/>
              </a:rPr>
              <a:t>End-to-End Automation Platform — Final Build</a:t>
            </a:r>
            <a:endParaRPr lang="en-US" sz="1700" dirty="0"/>
          </a:p>
        </p:txBody>
      </p:sp>
      <p:sp>
        <p:nvSpPr>
          <p:cNvPr id="5" name="Shape 3"/>
          <p:cNvSpPr/>
          <p:nvPr/>
        </p:nvSpPr>
        <p:spPr>
          <a:xfrm>
            <a:off x="320040" y="822960"/>
            <a:ext cx="8503920" cy="640080"/>
          </a:xfrm>
          <a:prstGeom prst="roundRect">
            <a:avLst>
              <a:gd name="adj" fmla="val 8571"/>
            </a:avLst>
          </a:prstGeom>
          <a:solidFill>
            <a:srgbClr val="1E3A2F"/>
          </a:solidFill>
          <a:ln w="12700">
            <a:solidFill>
              <a:srgbClr val="0D7C66"/>
            </a:solidFill>
            <a:prstDash val="solid"/>
          </a:ln>
        </p:spPr>
      </p:sp>
      <p:sp>
        <p:nvSpPr>
          <p:cNvPr id="6" name="Text 4"/>
          <p:cNvSpPr/>
          <p:nvPr/>
        </p:nvSpPr>
        <p:spPr>
          <a:xfrm>
            <a:off x="457200" y="868680"/>
            <a:ext cx="8229600" cy="530352"/>
          </a:xfrm>
          <a:prstGeom prst="rect">
            <a:avLst/>
          </a:prstGeom>
          <a:noFill/>
          <a:ln/>
        </p:spPr>
        <p:txBody>
          <a:bodyPr wrap="square" rtlCol="0" anchor="ctr"/>
          <a:lstStyle/>
          <a:p>
            <a:pPr marL="0" indent="0">
              <a:buNone/>
            </a:pPr>
            <a:r>
              <a:rPr lang="en-US" sz="1400" dirty="0">
                <a:solidFill>
                  <a:srgbClr val="A8F0D8"/>
                </a:solidFill>
                <a:latin typeface="Calibri" pitchFamily="34" charset="0"/>
                <a:ea typeface="Calibri" pitchFamily="34" charset="-122"/>
                <a:cs typeface="Calibri" pitchFamily="34" charset="-120"/>
              </a:rPr>
              <a:t>🎯  Connect all modules into a single orchestrated pipeline that runs every morning without manual intervention</a:t>
            </a:r>
            <a:endParaRPr lang="en-US" sz="1400" dirty="0"/>
          </a:p>
        </p:txBody>
      </p:sp>
      <p:sp>
        <p:nvSpPr>
          <p:cNvPr id="7" name="Text 5"/>
          <p:cNvSpPr/>
          <p:nvPr/>
        </p:nvSpPr>
        <p:spPr>
          <a:xfrm>
            <a:off x="320040" y="1600200"/>
            <a:ext cx="3657600" cy="274320"/>
          </a:xfrm>
          <a:prstGeom prst="rect">
            <a:avLst/>
          </a:prstGeom>
          <a:noFill/>
          <a:ln/>
        </p:spPr>
        <p:txBody>
          <a:bodyPr wrap="square"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Step-by-step:</a:t>
            </a:r>
            <a:endParaRPr lang="en-US" sz="1300" dirty="0"/>
          </a:p>
        </p:txBody>
      </p:sp>
      <p:sp>
        <p:nvSpPr>
          <p:cNvPr id="8" name="Text 6"/>
          <p:cNvSpPr/>
          <p:nvPr/>
        </p:nvSpPr>
        <p:spPr>
          <a:xfrm>
            <a:off x="320040" y="1920240"/>
            <a:ext cx="8503920" cy="2834640"/>
          </a:xfrm>
          <a:prstGeom prst="rect">
            <a:avLst/>
          </a:prstGeom>
          <a:noFill/>
          <a:ln/>
        </p:spPr>
        <p:txBody>
          <a:bodyPr wrap="square" rtlCol="0" anchor="ctr"/>
          <a:lstStyle/>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1.  Create scripts/main_pipeline.py — the master orchestrator</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2.  Prompt Copilot: 'Write a Python orchestrator that calls these modules in sequence: outlook_agent, collection_agent, pdf_extractor, reconciliation_engine, exception_engine, sharepoint_upload, audit_report'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3.  Add pipeline configuration in config/pipeline_settings.json (run time, tolerance, fund list)</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4.  Add a pipeline status email: sends summary on completion, escalation email on CRITICAL exceptions</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5.  Test with today's sample data — run the full pipeline end-to-end</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6.  Verify: SharePoint reports are uploaded, audit log is complete, exceptions are in the right folder</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7.  Schedule with Windows Task Scheduler: 7:30 AM daily, 4:30 PM daily</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8.  Create a pipeline monitoring dashboard HTML file (Copilot generates this too)</a:t>
            </a:r>
            <a:endParaRPr lang="en-US" sz="1300" dirty="0"/>
          </a:p>
          <a:p>
            <a:pPr marL="0" indent="0">
              <a:spcAft>
                <a:spcPts val="400"/>
              </a:spcAft>
              <a:buNone/>
            </a:pPr>
            <a:r>
              <a:rPr lang="en-US" sz="1300" dirty="0">
                <a:solidFill>
                  <a:srgbClr val="D0E8FF"/>
                </a:solidFill>
                <a:latin typeface="Calibri" pitchFamily="34" charset="0"/>
                <a:ea typeface="Calibri" pitchFamily="34" charset="-122"/>
                <a:cs typeface="Calibri" pitchFamily="34" charset="-120"/>
              </a:rPr>
              <a:t>9.  DEMO to the group: run the full pipeline live and show all outputs appearing automatically</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7">
    <p:bg>
      <p:bgPr>
        <a:solidFill>
          <a:srgbClr val="0D7C66"/>
        </a:solidFill>
        <a:effectLst/>
      </p:bgPr>
    </p:bg>
    <p:spTree>
      <p:nvGrpSpPr>
        <p:cNvPr id="1" name=""/>
        <p:cNvGrpSpPr/>
        <p:nvPr/>
      </p:nvGrpSpPr>
      <p:grpSpPr>
        <a:xfrm>
          <a:off x="0" y="0"/>
          <a:ext cx="0" cy="0"/>
          <a:chOff x="0" y="0"/>
          <a:chExt cx="0" cy="0"/>
        </a:xfrm>
      </p:grpSpPr>
      <p:sp>
        <p:nvSpPr>
          <p:cNvPr id="2" name="Shape 0"/>
          <p:cNvSpPr/>
          <p:nvPr/>
        </p:nvSpPr>
        <p:spPr>
          <a:xfrm>
            <a:off x="0" y="0"/>
            <a:ext cx="502920" cy="5143500"/>
          </a:xfrm>
          <a:prstGeom prst="rect">
            <a:avLst/>
          </a:prstGeom>
          <a:solidFill>
            <a:srgbClr val="1A2E4A"/>
          </a:solidFill>
          <a:ln w="12700">
            <a:solidFill>
              <a:srgbClr val="1A2E4A"/>
            </a:solidFill>
            <a:prstDash val="solid"/>
          </a:ln>
        </p:spPr>
      </p:sp>
      <p:sp>
        <p:nvSpPr>
          <p:cNvPr id="3" name="Text 1"/>
          <p:cNvSpPr/>
          <p:nvPr/>
        </p:nvSpPr>
        <p:spPr>
          <a:xfrm>
            <a:off x="731520" y="548640"/>
            <a:ext cx="8046720" cy="411480"/>
          </a:xfrm>
          <a:prstGeom prst="rect">
            <a:avLst/>
          </a:prstGeom>
          <a:noFill/>
          <a:ln/>
        </p:spPr>
        <p:txBody>
          <a:bodyPr wrap="square" rtlCol="0" anchor="ctr"/>
          <a:lstStyle/>
          <a:p>
            <a:pPr marL="0" indent="0">
              <a:buNone/>
            </a:pPr>
            <a:r>
              <a:rPr lang="en-US" sz="1300" b="1" dirty="0">
                <a:solidFill>
                  <a:srgbClr val="D0F0E8"/>
                </a:solidFill>
                <a:latin typeface="Calibri" pitchFamily="34" charset="0"/>
                <a:ea typeface="Calibri" pitchFamily="34" charset="-122"/>
                <a:cs typeface="Calibri" pitchFamily="34" charset="-120"/>
              </a:rPr>
              <a:t>REFERENCE</a:t>
            </a:r>
            <a:endParaRPr lang="en-US" sz="1300" dirty="0"/>
          </a:p>
        </p:txBody>
      </p:sp>
      <p:sp>
        <p:nvSpPr>
          <p:cNvPr id="4" name="Text 2"/>
          <p:cNvSpPr/>
          <p:nvPr/>
        </p:nvSpPr>
        <p:spPr>
          <a:xfrm>
            <a:off x="731520" y="1188720"/>
            <a:ext cx="8046720" cy="164592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Troubleshooting Guide</a:t>
            </a:r>
            <a:endParaRPr lang="en-US" sz="3400" dirty="0"/>
          </a:p>
        </p:txBody>
      </p:sp>
      <p:sp>
        <p:nvSpPr>
          <p:cNvPr id="5" name="Text 3"/>
          <p:cNvSpPr/>
          <p:nvPr/>
        </p:nvSpPr>
        <p:spPr>
          <a:xfrm>
            <a:off x="731520" y="3017520"/>
            <a:ext cx="8046720" cy="731520"/>
          </a:xfrm>
          <a:prstGeom prst="rect">
            <a:avLst/>
          </a:prstGeom>
          <a:noFill/>
          <a:ln/>
        </p:spPr>
        <p:txBody>
          <a:bodyPr wrap="square" rtlCol="0" anchor="ctr"/>
          <a:lstStyle/>
          <a:p>
            <a:pPr marL="0" indent="0">
              <a:buNone/>
            </a:pPr>
            <a:r>
              <a:rPr lang="en-US" sz="1700" dirty="0">
                <a:solidFill>
                  <a:srgbClr val="D0F0E8"/>
                </a:solidFill>
                <a:latin typeface="Calibri" pitchFamily="34" charset="0"/>
                <a:ea typeface="Calibri" pitchFamily="34" charset="-122"/>
                <a:cs typeface="Calibri" pitchFamily="34" charset="-120"/>
              </a:rPr>
              <a:t>Common errors and how to fix them — with Copilot</a:t>
            </a:r>
            <a:endParaRPr lang="en-US" sz="17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8">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Common Errors and Solutions — Copy These Fixes</a:t>
            </a:r>
            <a:endParaRPr lang="en-US" sz="2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9">
    <p:bg>
      <p:bgPr>
        <a:solidFill>
          <a:srgbClr val="F7F9FB"/>
        </a:solidFill>
        <a:effectLst/>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4A"/>
          </a:solidFill>
          <a:ln w="12700">
            <a:solidFill>
              <a:srgbClr val="1A2E4A"/>
            </a:solidFill>
            <a:prstDash val="solid"/>
          </a:ln>
        </p:spPr>
      </p:sp>
      <p:sp>
        <p:nvSpPr>
          <p:cNvPr id="3" name="Text 1"/>
          <p:cNvSpPr/>
          <p:nvPr/>
        </p:nvSpPr>
        <p:spPr>
          <a:xfrm>
            <a:off x="320040" y="91440"/>
            <a:ext cx="8503920" cy="475488"/>
          </a:xfrm>
          <a:prstGeom prst="rect">
            <a:avLst/>
          </a:prstGeom>
          <a:noFill/>
          <a:ln/>
        </p:spPr>
        <p:txBody>
          <a:bodyPr wrap="square" lIns="0" tIns="0" rIns="0" bIns="0" rtlCol="0" anchor="ctr"/>
          <a:lstStyle/>
          <a:p>
            <a:pPr marL="0" indent="0">
              <a:buNone/>
            </a:pPr>
            <a:r>
              <a:rPr lang="en-US" sz="2000" b="1" dirty="0">
                <a:solidFill>
                  <a:srgbClr val="FFFFFF"/>
                </a:solidFill>
                <a:latin typeface="Calibri" pitchFamily="34" charset="0"/>
                <a:ea typeface="Calibri" pitchFamily="34" charset="-122"/>
                <a:cs typeface="Calibri" pitchFamily="34" charset="-120"/>
              </a:rPr>
              <a:t>Common Errors and Solutions</a:t>
            </a:r>
            <a:endParaRPr lang="en-US" sz="2000" dirty="0"/>
          </a:p>
        </p:txBody>
      </p:sp>
      <p:sp>
        <p:nvSpPr>
          <p:cNvPr id="4" name="Shape 2"/>
          <p:cNvSpPr/>
          <p:nvPr/>
        </p:nvSpPr>
        <p:spPr>
          <a:xfrm>
            <a:off x="256032" y="768096"/>
            <a:ext cx="4206240" cy="1353312"/>
          </a:xfrm>
          <a:prstGeom prst="roundRect">
            <a:avLst>
              <a:gd name="adj" fmla="val 5405"/>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5" name="Shape 3"/>
          <p:cNvSpPr/>
          <p:nvPr/>
        </p:nvSpPr>
        <p:spPr>
          <a:xfrm>
            <a:off x="256032" y="768096"/>
            <a:ext cx="4206240" cy="347472"/>
          </a:xfrm>
          <a:prstGeom prst="rect">
            <a:avLst/>
          </a:prstGeom>
          <a:solidFill>
            <a:srgbClr val="C0392B"/>
          </a:solidFill>
          <a:ln w="12700">
            <a:solidFill>
              <a:srgbClr val="C0392B"/>
            </a:solidFill>
            <a:prstDash val="solid"/>
          </a:ln>
        </p:spPr>
      </p:sp>
      <p:sp>
        <p:nvSpPr>
          <p:cNvPr id="6" name="Text 4"/>
          <p:cNvSpPr/>
          <p:nvPr/>
        </p:nvSpPr>
        <p:spPr>
          <a:xfrm>
            <a:off x="347472" y="804672"/>
            <a:ext cx="40233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Package not installed in active environment</a:t>
            </a:r>
            <a:endParaRPr lang="en-US" sz="1100" dirty="0"/>
          </a:p>
        </p:txBody>
      </p:sp>
      <p:sp>
        <p:nvSpPr>
          <p:cNvPr id="7" name="Text 5"/>
          <p:cNvSpPr/>
          <p:nvPr/>
        </p:nvSpPr>
        <p:spPr>
          <a:xfrm>
            <a:off x="347472" y="1170432"/>
            <a:ext cx="4023360" cy="347472"/>
          </a:xfrm>
          <a:prstGeom prst="rect">
            <a:avLst/>
          </a:prstGeom>
          <a:noFill/>
          <a:ln/>
        </p:spPr>
        <p:txBody>
          <a:bodyPr wrap="square" rtlCol="0" anchor="ctr"/>
          <a:lstStyle/>
          <a:p>
            <a:pPr marL="0" indent="0">
              <a:buNone/>
            </a:pPr>
            <a:r>
              <a:rPr lang="en-US" sz="950" dirty="0">
                <a:solidFill>
                  <a:srgbClr val="C0392B"/>
                </a:solidFill>
                <a:latin typeface="Courier New" pitchFamily="34" charset="0"/>
                <a:ea typeface="Courier New" pitchFamily="34" charset="-122"/>
                <a:cs typeface="Courier New" pitchFamily="34" charset="-120"/>
              </a:rPr>
              <a:t>ModuleNotFoundError: No module named 'pdfplumber'</a:t>
            </a:r>
            <a:endParaRPr lang="en-US" sz="950" dirty="0"/>
          </a:p>
        </p:txBody>
      </p:sp>
      <p:sp>
        <p:nvSpPr>
          <p:cNvPr id="8" name="Text 6"/>
          <p:cNvSpPr/>
          <p:nvPr/>
        </p:nvSpPr>
        <p:spPr>
          <a:xfrm>
            <a:off x="347472" y="1536192"/>
            <a:ext cx="4023360" cy="530352"/>
          </a:xfrm>
          <a:prstGeom prst="rect">
            <a:avLst/>
          </a:prstGeom>
          <a:noFill/>
          <a:ln/>
        </p:spPr>
        <p:txBody>
          <a:bodyPr wrap="square" rtlCol="0" anchor="ctr"/>
          <a:lstStyle/>
          <a:p>
            <a:pPr marL="0" indent="0">
              <a:buNone/>
            </a:pPr>
            <a:r>
              <a:rPr lang="en-US" sz="1050" dirty="0">
                <a:solidFill>
                  <a:srgbClr val="1A202C"/>
                </a:solidFill>
                <a:latin typeface="Calibri" pitchFamily="34" charset="0"/>
                <a:ea typeface="Calibri" pitchFamily="34" charset="-122"/>
                <a:cs typeface="Calibri" pitchFamily="34" charset="-120"/>
              </a:rPr>
              <a:t>Fix: In Anaconda terminal: conda install -c conda-forge pdfplumber  OR  pip install pdfplumber</a:t>
            </a:r>
            <a:endParaRPr lang="en-US" sz="1050" dirty="0"/>
          </a:p>
        </p:txBody>
      </p:sp>
      <p:sp>
        <p:nvSpPr>
          <p:cNvPr id="9" name="Shape 7"/>
          <p:cNvSpPr/>
          <p:nvPr/>
        </p:nvSpPr>
        <p:spPr>
          <a:xfrm>
            <a:off x="256032" y="2194560"/>
            <a:ext cx="4206240" cy="1353312"/>
          </a:xfrm>
          <a:prstGeom prst="roundRect">
            <a:avLst>
              <a:gd name="adj" fmla="val 5405"/>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0" name="Shape 8"/>
          <p:cNvSpPr/>
          <p:nvPr/>
        </p:nvSpPr>
        <p:spPr>
          <a:xfrm>
            <a:off x="256032" y="2194560"/>
            <a:ext cx="4206240" cy="347472"/>
          </a:xfrm>
          <a:prstGeom prst="rect">
            <a:avLst/>
          </a:prstGeom>
          <a:solidFill>
            <a:srgbClr val="C0392B"/>
          </a:solidFill>
          <a:ln w="12700">
            <a:solidFill>
              <a:srgbClr val="C0392B"/>
            </a:solidFill>
            <a:prstDash val="solid"/>
          </a:ln>
        </p:spPr>
      </p:sp>
      <p:sp>
        <p:nvSpPr>
          <p:cNvPr id="11" name="Text 9"/>
          <p:cNvSpPr/>
          <p:nvPr/>
        </p:nvSpPr>
        <p:spPr>
          <a:xfrm>
            <a:off x="347472" y="2231136"/>
            <a:ext cx="40233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File path issue — most common beginner error</a:t>
            </a:r>
            <a:endParaRPr lang="en-US" sz="1100" dirty="0"/>
          </a:p>
        </p:txBody>
      </p:sp>
      <p:sp>
        <p:nvSpPr>
          <p:cNvPr id="12" name="Text 10"/>
          <p:cNvSpPr/>
          <p:nvPr/>
        </p:nvSpPr>
        <p:spPr>
          <a:xfrm>
            <a:off x="347472" y="2596896"/>
            <a:ext cx="4023360" cy="347472"/>
          </a:xfrm>
          <a:prstGeom prst="rect">
            <a:avLst/>
          </a:prstGeom>
          <a:noFill/>
          <a:ln/>
        </p:spPr>
        <p:txBody>
          <a:bodyPr wrap="square" rtlCol="0" anchor="ctr"/>
          <a:lstStyle/>
          <a:p>
            <a:pPr marL="0" indent="0">
              <a:buNone/>
            </a:pPr>
            <a:r>
              <a:rPr lang="en-US" sz="950" dirty="0">
                <a:solidFill>
                  <a:srgbClr val="C0392B"/>
                </a:solidFill>
                <a:latin typeface="Courier New" pitchFamily="34" charset="0"/>
                <a:ea typeface="Courier New" pitchFamily="34" charset="-122"/>
                <a:cs typeface="Courier New" pitchFamily="34" charset="-120"/>
              </a:rPr>
              <a:t>FileNotFoundError: [Errno 2] No such file or directory</a:t>
            </a:r>
            <a:endParaRPr lang="en-US" sz="950" dirty="0"/>
          </a:p>
        </p:txBody>
      </p:sp>
      <p:sp>
        <p:nvSpPr>
          <p:cNvPr id="13" name="Text 11"/>
          <p:cNvSpPr/>
          <p:nvPr/>
        </p:nvSpPr>
        <p:spPr>
          <a:xfrm>
            <a:off x="347472" y="2962656"/>
            <a:ext cx="4023360" cy="530352"/>
          </a:xfrm>
          <a:prstGeom prst="rect">
            <a:avLst/>
          </a:prstGeom>
          <a:noFill/>
          <a:ln/>
        </p:spPr>
        <p:txBody>
          <a:bodyPr wrap="square" rtlCol="0" anchor="ctr"/>
          <a:lstStyle/>
          <a:p>
            <a:pPr marL="0" indent="0">
              <a:buNone/>
            </a:pPr>
            <a:r>
              <a:rPr lang="en-US" sz="1050" dirty="0">
                <a:solidFill>
                  <a:srgbClr val="1A202C"/>
                </a:solidFill>
                <a:latin typeface="Calibri" pitchFamily="34" charset="0"/>
                <a:ea typeface="Calibri" pitchFamily="34" charset="-122"/>
                <a:cs typeface="Calibri" pitchFamily="34" charset="-120"/>
              </a:rPr>
              <a:t>Fix: Check the path is correct. On Windows use raw strings: r'C:\folder\file.xlsx'  OR use forward slashes: 'C:/folder/file.xlsx'</a:t>
            </a:r>
            <a:endParaRPr lang="en-US" sz="1050" dirty="0"/>
          </a:p>
        </p:txBody>
      </p:sp>
      <p:sp>
        <p:nvSpPr>
          <p:cNvPr id="14" name="Shape 12"/>
          <p:cNvSpPr/>
          <p:nvPr/>
        </p:nvSpPr>
        <p:spPr>
          <a:xfrm>
            <a:off x="256032" y="3621024"/>
            <a:ext cx="4206240" cy="1353312"/>
          </a:xfrm>
          <a:prstGeom prst="roundRect">
            <a:avLst>
              <a:gd name="adj" fmla="val 5405"/>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5" name="Shape 13"/>
          <p:cNvSpPr/>
          <p:nvPr/>
        </p:nvSpPr>
        <p:spPr>
          <a:xfrm>
            <a:off x="256032" y="3621024"/>
            <a:ext cx="4206240" cy="347472"/>
          </a:xfrm>
          <a:prstGeom prst="rect">
            <a:avLst/>
          </a:prstGeom>
          <a:solidFill>
            <a:srgbClr val="C0392B"/>
          </a:solidFill>
          <a:ln w="12700">
            <a:solidFill>
              <a:srgbClr val="C0392B"/>
            </a:solidFill>
            <a:prstDash val="solid"/>
          </a:ln>
        </p:spPr>
      </p:sp>
      <p:sp>
        <p:nvSpPr>
          <p:cNvPr id="16" name="Text 14"/>
          <p:cNvSpPr/>
          <p:nvPr/>
        </p:nvSpPr>
        <p:spPr>
          <a:xfrm>
            <a:off x="347472" y="3657600"/>
            <a:ext cx="40233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Sheet name mismatch in Excel file</a:t>
            </a:r>
            <a:endParaRPr lang="en-US" sz="1100" dirty="0"/>
          </a:p>
        </p:txBody>
      </p:sp>
      <p:sp>
        <p:nvSpPr>
          <p:cNvPr id="17" name="Text 15"/>
          <p:cNvSpPr/>
          <p:nvPr/>
        </p:nvSpPr>
        <p:spPr>
          <a:xfrm>
            <a:off x="347472" y="4023360"/>
            <a:ext cx="4023360" cy="347472"/>
          </a:xfrm>
          <a:prstGeom prst="rect">
            <a:avLst/>
          </a:prstGeom>
          <a:noFill/>
          <a:ln/>
        </p:spPr>
        <p:txBody>
          <a:bodyPr wrap="square" rtlCol="0" anchor="ctr"/>
          <a:lstStyle/>
          <a:p>
            <a:pPr marL="0" indent="0">
              <a:buNone/>
            </a:pPr>
            <a:r>
              <a:rPr lang="en-US" sz="950" dirty="0">
                <a:solidFill>
                  <a:srgbClr val="C0392B"/>
                </a:solidFill>
                <a:latin typeface="Courier New" pitchFamily="34" charset="0"/>
                <a:ea typeface="Courier New" pitchFamily="34" charset="-122"/>
                <a:cs typeface="Courier New" pitchFamily="34" charset="-120"/>
              </a:rPr>
              <a:t>KeyError: 'NAV Summary'</a:t>
            </a:r>
            <a:endParaRPr lang="en-US" sz="950" dirty="0"/>
          </a:p>
        </p:txBody>
      </p:sp>
      <p:sp>
        <p:nvSpPr>
          <p:cNvPr id="18" name="Text 16"/>
          <p:cNvSpPr/>
          <p:nvPr/>
        </p:nvSpPr>
        <p:spPr>
          <a:xfrm>
            <a:off x="347472" y="4389120"/>
            <a:ext cx="4023360" cy="530352"/>
          </a:xfrm>
          <a:prstGeom prst="rect">
            <a:avLst/>
          </a:prstGeom>
          <a:noFill/>
          <a:ln/>
        </p:spPr>
        <p:txBody>
          <a:bodyPr wrap="square" rtlCol="0" anchor="ctr"/>
          <a:lstStyle/>
          <a:p>
            <a:pPr marL="0" indent="0">
              <a:buNone/>
            </a:pPr>
            <a:r>
              <a:rPr lang="en-US" sz="1050" dirty="0">
                <a:solidFill>
                  <a:srgbClr val="1A202C"/>
                </a:solidFill>
                <a:latin typeface="Calibri" pitchFamily="34" charset="0"/>
                <a:ea typeface="Calibri" pitchFamily="34" charset="-122"/>
                <a:cs typeface="Calibri" pitchFamily="34" charset="-120"/>
              </a:rPr>
              <a:t>Fix: The sheet name doesn't match exactly. Use: wb.sheetnames to list all sheets, then check spelling and case</a:t>
            </a:r>
            <a:endParaRPr lang="en-US" sz="1050" dirty="0"/>
          </a:p>
        </p:txBody>
      </p:sp>
      <p:sp>
        <p:nvSpPr>
          <p:cNvPr id="19" name="Shape 17"/>
          <p:cNvSpPr/>
          <p:nvPr/>
        </p:nvSpPr>
        <p:spPr>
          <a:xfrm>
            <a:off x="4764024" y="768096"/>
            <a:ext cx="4206240" cy="1353312"/>
          </a:xfrm>
          <a:prstGeom prst="roundRect">
            <a:avLst>
              <a:gd name="adj" fmla="val 5405"/>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20" name="Shape 18"/>
          <p:cNvSpPr/>
          <p:nvPr/>
        </p:nvSpPr>
        <p:spPr>
          <a:xfrm>
            <a:off x="4764024" y="768096"/>
            <a:ext cx="4206240" cy="347472"/>
          </a:xfrm>
          <a:prstGeom prst="rect">
            <a:avLst/>
          </a:prstGeom>
          <a:solidFill>
            <a:srgbClr val="C0392B"/>
          </a:solidFill>
          <a:ln w="12700">
            <a:solidFill>
              <a:srgbClr val="C0392B"/>
            </a:solidFill>
            <a:prstDash val="solid"/>
          </a:ln>
        </p:spPr>
      </p:sp>
      <p:sp>
        <p:nvSpPr>
          <p:cNvPr id="21" name="Text 19"/>
          <p:cNvSpPr/>
          <p:nvPr/>
        </p:nvSpPr>
        <p:spPr>
          <a:xfrm>
            <a:off x="4855464" y="804672"/>
            <a:ext cx="40233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Graph API authentication failure</a:t>
            </a:r>
            <a:endParaRPr lang="en-US" sz="1100" dirty="0"/>
          </a:p>
        </p:txBody>
      </p:sp>
      <p:sp>
        <p:nvSpPr>
          <p:cNvPr id="22" name="Text 20"/>
          <p:cNvSpPr/>
          <p:nvPr/>
        </p:nvSpPr>
        <p:spPr>
          <a:xfrm>
            <a:off x="4855464" y="1170432"/>
            <a:ext cx="4023360" cy="347472"/>
          </a:xfrm>
          <a:prstGeom prst="rect">
            <a:avLst/>
          </a:prstGeom>
          <a:noFill/>
          <a:ln/>
        </p:spPr>
        <p:txBody>
          <a:bodyPr wrap="square" rtlCol="0" anchor="ctr"/>
          <a:lstStyle/>
          <a:p>
            <a:pPr marL="0" indent="0">
              <a:buNone/>
            </a:pPr>
            <a:r>
              <a:rPr lang="en-US" sz="950" dirty="0">
                <a:solidFill>
                  <a:srgbClr val="C0392B"/>
                </a:solidFill>
                <a:latin typeface="Courier New" pitchFamily="34" charset="0"/>
                <a:ea typeface="Courier New" pitchFamily="34" charset="-122"/>
                <a:cs typeface="Courier New" pitchFamily="34" charset="-120"/>
              </a:rPr>
              <a:t>AADSTS700016: Application not found in tenant</a:t>
            </a:r>
            <a:endParaRPr lang="en-US" sz="950" dirty="0"/>
          </a:p>
        </p:txBody>
      </p:sp>
      <p:sp>
        <p:nvSpPr>
          <p:cNvPr id="23" name="Text 21"/>
          <p:cNvSpPr/>
          <p:nvPr/>
        </p:nvSpPr>
        <p:spPr>
          <a:xfrm>
            <a:off x="4855464" y="1536192"/>
            <a:ext cx="4023360" cy="530352"/>
          </a:xfrm>
          <a:prstGeom prst="rect">
            <a:avLst/>
          </a:prstGeom>
          <a:noFill/>
          <a:ln/>
        </p:spPr>
        <p:txBody>
          <a:bodyPr wrap="square" rtlCol="0" anchor="ctr"/>
          <a:lstStyle/>
          <a:p>
            <a:pPr marL="0" indent="0">
              <a:buNone/>
            </a:pPr>
            <a:r>
              <a:rPr lang="en-US" sz="1050" dirty="0">
                <a:solidFill>
                  <a:srgbClr val="1A202C"/>
                </a:solidFill>
                <a:latin typeface="Calibri" pitchFamily="34" charset="0"/>
                <a:ea typeface="Calibri" pitchFamily="34" charset="-122"/>
                <a:cs typeface="Calibri" pitchFamily="34" charset="-120"/>
              </a:rPr>
              <a:t>Fix: Client ID is wrong OR app was registered in a different tenant. Check Azure AD App Registration matches your TENANT_ID</a:t>
            </a:r>
            <a:endParaRPr lang="en-US" sz="1050" dirty="0"/>
          </a:p>
        </p:txBody>
      </p:sp>
      <p:sp>
        <p:nvSpPr>
          <p:cNvPr id="24" name="Shape 22"/>
          <p:cNvSpPr/>
          <p:nvPr/>
        </p:nvSpPr>
        <p:spPr>
          <a:xfrm>
            <a:off x="4764024" y="2194560"/>
            <a:ext cx="4206240" cy="1353312"/>
          </a:xfrm>
          <a:prstGeom prst="roundRect">
            <a:avLst>
              <a:gd name="adj" fmla="val 5405"/>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25" name="Shape 23"/>
          <p:cNvSpPr/>
          <p:nvPr/>
        </p:nvSpPr>
        <p:spPr>
          <a:xfrm>
            <a:off x="4764024" y="2194560"/>
            <a:ext cx="4206240" cy="347472"/>
          </a:xfrm>
          <a:prstGeom prst="rect">
            <a:avLst/>
          </a:prstGeom>
          <a:solidFill>
            <a:srgbClr val="C0392B"/>
          </a:solidFill>
          <a:ln w="12700">
            <a:solidFill>
              <a:srgbClr val="C0392B"/>
            </a:solidFill>
            <a:prstDash val="solid"/>
          </a:ln>
        </p:spPr>
      </p:sp>
      <p:sp>
        <p:nvSpPr>
          <p:cNvPr id="26" name="Text 24"/>
          <p:cNvSpPr/>
          <p:nvPr/>
        </p:nvSpPr>
        <p:spPr>
          <a:xfrm>
            <a:off x="4855464" y="2231136"/>
            <a:ext cx="40233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SQL Server connection failure</a:t>
            </a:r>
            <a:endParaRPr lang="en-US" sz="1100" dirty="0"/>
          </a:p>
        </p:txBody>
      </p:sp>
      <p:sp>
        <p:nvSpPr>
          <p:cNvPr id="27" name="Text 25"/>
          <p:cNvSpPr/>
          <p:nvPr/>
        </p:nvSpPr>
        <p:spPr>
          <a:xfrm>
            <a:off x="4855464" y="2596896"/>
            <a:ext cx="4023360" cy="347472"/>
          </a:xfrm>
          <a:prstGeom prst="rect">
            <a:avLst/>
          </a:prstGeom>
          <a:noFill/>
          <a:ln/>
        </p:spPr>
        <p:txBody>
          <a:bodyPr wrap="square" rtlCol="0" anchor="ctr"/>
          <a:lstStyle/>
          <a:p>
            <a:pPr marL="0" indent="0">
              <a:buNone/>
            </a:pPr>
            <a:r>
              <a:rPr lang="en-US" sz="950" dirty="0">
                <a:solidFill>
                  <a:srgbClr val="C0392B"/>
                </a:solidFill>
                <a:latin typeface="Courier New" pitchFamily="34" charset="0"/>
                <a:ea typeface="Courier New" pitchFamily="34" charset="-122"/>
                <a:cs typeface="Courier New" pitchFamily="34" charset="-120"/>
              </a:rPr>
              <a:t>pyodbc.OperationalError: [08001] SQL Server not found</a:t>
            </a:r>
            <a:endParaRPr lang="en-US" sz="950" dirty="0"/>
          </a:p>
        </p:txBody>
      </p:sp>
      <p:sp>
        <p:nvSpPr>
          <p:cNvPr id="28" name="Text 26"/>
          <p:cNvSpPr/>
          <p:nvPr/>
        </p:nvSpPr>
        <p:spPr>
          <a:xfrm>
            <a:off x="4855464" y="2962656"/>
            <a:ext cx="4023360" cy="530352"/>
          </a:xfrm>
          <a:prstGeom prst="rect">
            <a:avLst/>
          </a:prstGeom>
          <a:noFill/>
          <a:ln/>
        </p:spPr>
        <p:txBody>
          <a:bodyPr wrap="square" rtlCol="0" anchor="ctr"/>
          <a:lstStyle/>
          <a:p>
            <a:pPr marL="0" indent="0">
              <a:buNone/>
            </a:pPr>
            <a:r>
              <a:rPr lang="en-US" sz="1050" dirty="0">
                <a:solidFill>
                  <a:srgbClr val="1A202C"/>
                </a:solidFill>
                <a:latin typeface="Calibri" pitchFamily="34" charset="0"/>
                <a:ea typeface="Calibri" pitchFamily="34" charset="-122"/>
                <a:cs typeface="Calibri" pitchFamily="34" charset="-120"/>
              </a:rPr>
              <a:t>Fix: Check server name: SERVER=YourServer\SQLEXPRESS (or just SERVER=YourServer for default). Ensure SQL Server service is running</a:t>
            </a:r>
            <a:endParaRPr lang="en-US" sz="1050" dirty="0"/>
          </a:p>
        </p:txBody>
      </p:sp>
      <p:sp>
        <p:nvSpPr>
          <p:cNvPr id="29" name="Shape 27"/>
          <p:cNvSpPr/>
          <p:nvPr/>
        </p:nvSpPr>
        <p:spPr>
          <a:xfrm>
            <a:off x="4764024" y="3621024"/>
            <a:ext cx="4206240" cy="1353312"/>
          </a:xfrm>
          <a:prstGeom prst="roundRect">
            <a:avLst>
              <a:gd name="adj" fmla="val 5405"/>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30" name="Shape 28"/>
          <p:cNvSpPr/>
          <p:nvPr/>
        </p:nvSpPr>
        <p:spPr>
          <a:xfrm>
            <a:off x="4764024" y="3621024"/>
            <a:ext cx="4206240" cy="347472"/>
          </a:xfrm>
          <a:prstGeom prst="rect">
            <a:avLst/>
          </a:prstGeom>
          <a:solidFill>
            <a:srgbClr val="C0392B"/>
          </a:solidFill>
          <a:ln w="12700">
            <a:solidFill>
              <a:srgbClr val="C0392B"/>
            </a:solidFill>
            <a:prstDash val="solid"/>
          </a:ln>
        </p:spPr>
      </p:sp>
      <p:sp>
        <p:nvSpPr>
          <p:cNvPr id="31" name="Text 29"/>
          <p:cNvSpPr/>
          <p:nvPr/>
        </p:nvSpPr>
        <p:spPr>
          <a:xfrm>
            <a:off x="4855464" y="3657600"/>
            <a:ext cx="402336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Empty input file</a:t>
            </a:r>
            <a:endParaRPr lang="en-US" sz="1100" dirty="0"/>
          </a:p>
        </p:txBody>
      </p:sp>
      <p:sp>
        <p:nvSpPr>
          <p:cNvPr id="32" name="Text 30"/>
          <p:cNvSpPr/>
          <p:nvPr/>
        </p:nvSpPr>
        <p:spPr>
          <a:xfrm>
            <a:off x="4855464" y="4023360"/>
            <a:ext cx="4023360" cy="347472"/>
          </a:xfrm>
          <a:prstGeom prst="rect">
            <a:avLst/>
          </a:prstGeom>
          <a:noFill/>
          <a:ln/>
        </p:spPr>
        <p:txBody>
          <a:bodyPr wrap="square" rtlCol="0" anchor="ctr"/>
          <a:lstStyle/>
          <a:p>
            <a:pPr marL="0" indent="0">
              <a:buNone/>
            </a:pPr>
            <a:r>
              <a:rPr lang="en-US" sz="950" dirty="0">
                <a:solidFill>
                  <a:srgbClr val="C0392B"/>
                </a:solidFill>
                <a:latin typeface="Courier New" pitchFamily="34" charset="0"/>
                <a:ea typeface="Courier New" pitchFamily="34" charset="-122"/>
                <a:cs typeface="Courier New" pitchFamily="34" charset="-120"/>
              </a:rPr>
              <a:t>pandas.errors.EmptyDataError: No columns to parse</a:t>
            </a:r>
            <a:endParaRPr lang="en-US" sz="950" dirty="0"/>
          </a:p>
        </p:txBody>
      </p:sp>
      <p:sp>
        <p:nvSpPr>
          <p:cNvPr id="33" name="Text 31"/>
          <p:cNvSpPr/>
          <p:nvPr/>
        </p:nvSpPr>
        <p:spPr>
          <a:xfrm>
            <a:off x="4855464" y="4389120"/>
            <a:ext cx="4023360" cy="530352"/>
          </a:xfrm>
          <a:prstGeom prst="rect">
            <a:avLst/>
          </a:prstGeom>
          <a:noFill/>
          <a:ln/>
        </p:spPr>
        <p:txBody>
          <a:bodyPr wrap="square" rtlCol="0" anchor="ctr"/>
          <a:lstStyle/>
          <a:p>
            <a:pPr marL="0" indent="0">
              <a:buNone/>
            </a:pPr>
            <a:r>
              <a:rPr lang="en-US" sz="1050" dirty="0">
                <a:solidFill>
                  <a:srgbClr val="1A202C"/>
                </a:solidFill>
                <a:latin typeface="Calibri" pitchFamily="34" charset="0"/>
                <a:ea typeface="Calibri" pitchFamily="34" charset="-122"/>
                <a:cs typeface="Calibri" pitchFamily="34" charset="-120"/>
              </a:rPr>
              <a:t>Fix: CSV file is empty or has no rows. Add a check: if df.empty: raise ValueError('No data in file')</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0">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3474720"/>
            <a:ext cx="9144000" cy="1668780"/>
          </a:xfrm>
          <a:prstGeom prst="rect">
            <a:avLst/>
          </a:prstGeom>
          <a:solidFill>
            <a:srgbClr val="0D7C66"/>
          </a:solidFill>
          <a:ln w="12700">
            <a:solidFill>
              <a:srgbClr val="0D7C66"/>
            </a:solidFill>
            <a:prstDash val="solid"/>
          </a:ln>
        </p:spPr>
      </p:sp>
      <p:sp>
        <p:nvSpPr>
          <p:cNvPr id="3" name="Text 1"/>
          <p:cNvSpPr/>
          <p:nvPr/>
        </p:nvSpPr>
        <p:spPr>
          <a:xfrm>
            <a:off x="457200" y="548640"/>
            <a:ext cx="8229600" cy="1005840"/>
          </a:xfrm>
          <a:prstGeom prst="rect">
            <a:avLst/>
          </a:prstGeom>
          <a:noFill/>
          <a:ln/>
        </p:spPr>
        <p:txBody>
          <a:bodyPr wrap="square"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You Are Now an Automation Builder</a:t>
            </a:r>
            <a:endParaRPr lang="en-US" sz="3400" dirty="0"/>
          </a:p>
        </p:txBody>
      </p:sp>
      <p:sp>
        <p:nvSpPr>
          <p:cNvPr id="4" name="Text 2"/>
          <p:cNvSpPr/>
          <p:nvPr/>
        </p:nvSpPr>
        <p:spPr>
          <a:xfrm>
            <a:off x="914400" y="1691640"/>
            <a:ext cx="7315200" cy="411480"/>
          </a:xfrm>
          <a:prstGeom prst="rect">
            <a:avLst/>
          </a:prstGeom>
          <a:noFill/>
          <a:ln/>
        </p:spPr>
        <p:txBody>
          <a:bodyPr wrap="square" rtlCol="0" anchor="ctr"/>
          <a:lstStyle/>
          <a:p>
            <a:pPr marL="0" indent="0" algn="ctr">
              <a:buNone/>
            </a:pPr>
            <a:r>
              <a:rPr lang="en-US" sz="1600" dirty="0">
                <a:solidFill>
                  <a:srgbClr val="A0C4FF"/>
                </a:solidFill>
                <a:latin typeface="Calibri" pitchFamily="34" charset="0"/>
                <a:ea typeface="Calibri" pitchFamily="34" charset="-122"/>
                <a:cs typeface="Calibri" pitchFamily="34" charset="-120"/>
              </a:rPr>
              <a:t>The 4 things that changed this week:</a:t>
            </a:r>
            <a:endParaRPr lang="en-US" sz="1600" dirty="0"/>
          </a:p>
        </p:txBody>
      </p:sp>
      <p:sp>
        <p:nvSpPr>
          <p:cNvPr id="5" name="Text 3"/>
          <p:cNvSpPr/>
          <p:nvPr/>
        </p:nvSpPr>
        <p:spPr>
          <a:xfrm>
            <a:off x="914400" y="2194560"/>
            <a:ext cx="7315200" cy="1097280"/>
          </a:xfrm>
          <a:prstGeom prst="rect">
            <a:avLst/>
          </a:prstGeom>
          <a:noFill/>
          <a:ln/>
        </p:spPr>
        <p:txBody>
          <a:bodyPr wrap="square" rtlCol="0" anchor="ctr"/>
          <a:lstStyle/>
          <a:p>
            <a:pPr marL="0" indent="0">
              <a:spcAft>
                <a:spcPts val="700"/>
              </a:spcAft>
              <a:buNone/>
            </a:pPr>
            <a:r>
              <a:rPr lang="en-US" sz="1400" dirty="0">
                <a:solidFill>
                  <a:srgbClr val="A0E8D0"/>
                </a:solidFill>
                <a:latin typeface="Calibri" pitchFamily="34" charset="0"/>
                <a:ea typeface="Calibri" pitchFamily="34" charset="-122"/>
                <a:cs typeface="Calibri" pitchFamily="34" charset="-120"/>
              </a:rPr>
              <a:t>✓  You can describe what you want → Copilot builds it</a:t>
            </a:r>
            <a:endParaRPr lang="en-US" sz="1400" dirty="0"/>
          </a:p>
          <a:p>
            <a:pPr marL="0" indent="0">
              <a:spcAft>
                <a:spcPts val="700"/>
              </a:spcAft>
              <a:buNone/>
            </a:pPr>
            <a:r>
              <a:rPr lang="en-US" sz="1400" dirty="0">
                <a:solidFill>
                  <a:srgbClr val="FFFFFF"/>
                </a:solidFill>
                <a:latin typeface="Calibri" pitchFamily="34" charset="0"/>
                <a:ea typeface="Calibri" pitchFamily="34" charset="-122"/>
                <a:cs typeface="Calibri" pitchFamily="34" charset="-120"/>
              </a:rPr>
              <a:t>✓  You can read, debug and improve AI-generated code</a:t>
            </a:r>
            <a:endParaRPr lang="en-US" sz="1400" dirty="0"/>
          </a:p>
          <a:p>
            <a:pPr marL="0" indent="0">
              <a:spcAft>
                <a:spcPts val="700"/>
              </a:spcAft>
              <a:buNone/>
            </a:pPr>
            <a:r>
              <a:rPr lang="en-US" sz="1400" dirty="0">
                <a:solidFill>
                  <a:srgbClr val="A0E8D0"/>
                </a:solidFill>
                <a:latin typeface="Calibri" pitchFamily="34" charset="0"/>
                <a:ea typeface="Calibri" pitchFamily="34" charset="-122"/>
                <a:cs typeface="Calibri" pitchFamily="34" charset="-120"/>
              </a:rPr>
              <a:t>✓  You have 15 working automations for real fund ops tasks</a:t>
            </a:r>
            <a:endParaRPr lang="en-US" sz="1400" dirty="0"/>
          </a:p>
          <a:p>
            <a:pPr marL="0" indent="0">
              <a:spcAft>
                <a:spcPts val="700"/>
              </a:spcAft>
              <a:buNone/>
            </a:pPr>
            <a:r>
              <a:rPr lang="en-US" sz="1400" dirty="0">
                <a:solidFill>
                  <a:srgbClr val="FFFFFF"/>
                </a:solidFill>
                <a:latin typeface="Calibri" pitchFamily="34" charset="0"/>
                <a:ea typeface="Calibri" pitchFamily="34" charset="-122"/>
                <a:cs typeface="Calibri" pitchFamily="34" charset="-120"/>
              </a:rPr>
              <a:t>✓  You know the architecture: Outlook → Excel → PDF → SQL → SharePoint → Power BI</a:t>
            </a:r>
            <a:endParaRPr lang="en-US" sz="1400" dirty="0"/>
          </a:p>
        </p:txBody>
      </p:sp>
      <p:sp>
        <p:nvSpPr>
          <p:cNvPr id="6" name="Text 4"/>
          <p:cNvSpPr/>
          <p:nvPr/>
        </p:nvSpPr>
        <p:spPr>
          <a:xfrm>
            <a:off x="914400" y="3566160"/>
            <a:ext cx="7315200" cy="502920"/>
          </a:xfrm>
          <a:prstGeom prst="rect">
            <a:avLst/>
          </a:prstGeom>
          <a:noFill/>
          <a:ln/>
        </p:spPr>
        <p:txBody>
          <a:bodyPr wrap="square" rtlCol="0" anchor="ctr"/>
          <a:lstStyle/>
          <a:p>
            <a:pPr marL="0" indent="0" algn="ctr">
              <a:buNone/>
            </a:pPr>
            <a:r>
              <a:rPr lang="en-US" sz="1400" i="1" dirty="0">
                <a:solidFill>
                  <a:srgbClr val="1A202C"/>
                </a:solidFill>
                <a:latin typeface="Calibri" pitchFamily="34" charset="0"/>
                <a:ea typeface="Calibri" pitchFamily="34" charset="-122"/>
                <a:cs typeface="Calibri" pitchFamily="34" charset="-120"/>
              </a:rPr>
              <a:t>"The best automation is the one that runs while you sleep."</a:t>
            </a:r>
            <a:endParaRPr lang="en-US" sz="1400" dirty="0"/>
          </a:p>
        </p:txBody>
      </p:sp>
      <p:sp>
        <p:nvSpPr>
          <p:cNvPr id="7" name="Text 5"/>
          <p:cNvSpPr/>
          <p:nvPr/>
        </p:nvSpPr>
        <p:spPr>
          <a:xfrm>
            <a:off x="457200" y="4251960"/>
            <a:ext cx="8229600" cy="457200"/>
          </a:xfrm>
          <a:prstGeom prst="rect">
            <a:avLst/>
          </a:prstGeom>
          <a:noFill/>
          <a:ln/>
        </p:spPr>
        <p:txBody>
          <a:bodyPr wrap="square" rtlCol="0" anchor="ctr"/>
          <a:lstStyle/>
          <a:p>
            <a:pPr marL="0" indent="0" algn="ctr">
              <a:buNone/>
            </a:pPr>
            <a:r>
              <a:rPr lang="en-US" sz="1200" dirty="0">
                <a:solidFill>
                  <a:srgbClr val="1A202C"/>
                </a:solidFill>
                <a:latin typeface="Calibri" pitchFamily="34" charset="0"/>
                <a:ea typeface="Calibri" pitchFamily="34" charset="-122"/>
                <a:cs typeface="Calibri" pitchFamily="34" charset="-120"/>
              </a:rPr>
              <a:t>Next Steps: 30-Day Challenge — automate one more process per week using today's templates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7167</Words>
  <Application>Microsoft Office PowerPoint</Application>
  <PresentationFormat>On-screen Show (16:9)</PresentationFormat>
  <Paragraphs>720</Paragraphs>
  <Slides>56</Slides>
  <Notes>56</Notes>
  <HiddenSlides>0</HiddenSlides>
  <MMClips>0</MMClips>
  <ScaleCrop>false</ScaleCrop>
  <HeadingPairs>
    <vt:vector size="4" baseType="variant">
      <vt:variant>
        <vt:lpstr>Theme</vt:lpstr>
      </vt:variant>
      <vt:variant>
        <vt:i4>1</vt:i4>
      </vt:variant>
      <vt:variant>
        <vt:lpstr>Slide Titles</vt:lpstr>
      </vt:variant>
      <vt:variant>
        <vt:i4>56</vt:i4>
      </vt:variant>
    </vt:vector>
  </HeadingPairs>
  <TitlesOfParts>
    <vt:vector size="5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AI-Assisted Automation Workshop — Fund Accounting &amp; Operations</dc:title>
  <dc:subject>PptxGenJS Presentation</dc:subject>
  <dc:creator>PptxGenJS</dc:creator>
  <cp:lastModifiedBy>admin</cp:lastModifiedBy>
  <cp:revision>4</cp:revision>
  <dcterms:created xsi:type="dcterms:W3CDTF">2026-06-23T10:28:53Z</dcterms:created>
  <dcterms:modified xsi:type="dcterms:W3CDTF">2026-06-23T17:31:35Z</dcterms:modified>
</cp:coreProperties>
</file>